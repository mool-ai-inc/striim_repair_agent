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Poppins" pitchFamily="2" charset="77"/>
      <p:regular r:id="rId13"/>
      <p:bold r:id="rId14"/>
      <p:italic r:id="rId15"/>
      <p:boldItalic r:id="rId16"/>
    </p:embeddedFont>
    <p:embeddedFont>
      <p:font typeface="Poppins Light" panose="00000400000000000000" pitchFamily="2" charset="77"/>
      <p:regular r:id="rId17"/>
      <p:italic r:id="rId18"/>
    </p:embeddedFont>
    <p:embeddedFont>
      <p:font typeface="Poppins Medium" panose="00000600000000000000" pitchFamily="2" charset="77"/>
      <p:regular r:id="rId19"/>
      <p:italic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6511"/>
  </p:normalViewPr>
  <p:slideViewPr>
    <p:cSldViewPr snapToGrid="0" snapToObjects="1">
      <p:cViewPr varScale="1">
        <p:scale>
          <a:sx n="116" d="100"/>
          <a:sy n="116" d="100"/>
        </p:scale>
        <p:origin x="6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85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t>
            </a:r>
            <a:r>
              <a:rPr lang="en-US" dirty="0"/>
              <a:t>built an agent that sits on top of a live CDC pipeline, and you just talk to it in Slack, in plain English. It answers from real queries against the actual pipeline. Nothing here is faked. Think of it as your world, real-time change data capture, but made completely visible to anyone who needs it. Let me start with the problem it solves.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the problem, and you know this space cold. Striim moves data the instant it changes. Real-time CDC out of Oracle, SQL Server and Postgres, into Snowflake, BigQuery, Databricks and Kafka, at serious scale. Here's the sharp edge. CDC only works because the source holds every change until the reader confirms it. That's the guarantee. But if a stream falls behind, that write-ahead log just sits on the source and grows. Left alone, it fills the disk and can take the production database down. The very system you read from. And the hard part is, it's silent. You already show end-to-end latency, but a dashboard only helps if someone is actually watching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And this is really a people problem, not a tech one. To catch it, someone has to open psql and already know that replication-slot lag is the number that matters. But the people who feel it first can't do that. On-call. The analytics team. The business owner asking, is the data fresh? None of them live in psql. And the dashboard doesn't save them, because it's passive. It shows a number only if you knew to look, and it can't say what changed or why the lag is climbing. So there's a gap between the pipeline degrading and a human actually getting it. That gap is where the outage lives.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here's what we built. It's a Slack bot you just talk to in plain English. Under the hood, it answers by running real read-only queries against the live pipeline. Three quick takeaways. One, you ask in Slack. No dashboard, no psql. Two, every answer comes from a real query, never a guess. Three, it's safe by design, and I'll come back to that. The key thing to hold onto: the model has no other source of data. It only sees the tool results. So it genuinely can't make a number 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look under the hood, I'll keep it short. The top row is the answer path. Your question goes to the model, the model picks one of four fixed read-only tools, the tool runs real SQL, and that result becomes the answer. The bottom row is the capture path. A background poller drains real change events off the replication slot every couple of seconds. And the lag number I'm about to show you is genuine retained WAL, straight from Postgres. One line to remember: the model never touches the database. It only ever sees tool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part I'm proudest of. The lag it reports is not a made-up dashboard number. It's the actual write-ahead log Postgres is holding for the slot. So watch. I pause the consumer, I fire off a burst of writes, and the retained WAL climbs, for real. Here it went from zero to about a hundred kilobytes. Then I hit resume, and it drains right back to zero. Nothing lost. That's the durability guarantee of the slot. And that climbing number is exactly the failure mode that takes production databases down.  [CUE: if you're running the live demo, this is the moment to switch to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the question everyone asks when you put AI near a production database. Is it safe? Yes. And not because we trust the model to behave. There are four independent layers here, and all four have to fail before a single write can happen. Ask it to drop a table or delete rows, and it refuses before the model is even called. It has no tool that can write. It's locked to two tables. And the role it runs as is read-only, enforced by Postgres itself. So even if the model went completely rogue, the server just says no. The model never even sees the database.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then. Today, the answer lives on a passive dashboard, or buried in psql, and really only one specialist can read it. And you don't hear about it until the outage. With the agent, anyone just asks in plain English, and every answer traces back to a real query, held inside those read-only rails. This is not a replacement for what you do. It's the answer layer that sits on top of your pipeline and makes it legible to everyone.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And the good part is, this pattern isn't tied to one pipeline. It works across any real-time CDC. Same idea. Hard read-only rails, plus plain English, at production scale. So where I'd love to go next is simple. Pilot it on one of your live pipelines. Extend the tools to cover more of the signals you care about. And wire it into your Slack or Teams. One pattern, every pipeline.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That's it, and it comes down to one line. Something powerful, made completely visible. Your pipeline was always powerful, and honestly always a little fragile. This just makes it something anyone can see and trust. Thank you. I'm happy to take questions. And if you'd like, I can run the whole thing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_full_hi.png"/>
          <p:cNvPicPr>
            <a:picLocks noChangeAspect="1"/>
          </p:cNvPicPr>
          <p:nvPr/>
        </p:nvPicPr>
        <p:blipFill>
          <a:blip r:embed="rId4"/>
          <a:stretch>
            <a:fillRect/>
          </a:stretch>
        </p:blipFill>
        <p:spPr>
          <a:xfrm>
            <a:off x="713232" y="749808"/>
            <a:ext cx="2057400" cy="609905"/>
          </a:xfrm>
          <a:prstGeom prst="rect">
            <a:avLst/>
          </a:prstGeom>
        </p:spPr>
      </p:pic>
      <p:sp>
        <p:nvSpPr>
          <p:cNvPr id="3" name="Text 0"/>
          <p:cNvSpPr/>
          <p:nvPr/>
        </p:nvSpPr>
        <p:spPr>
          <a:xfrm>
            <a:off x="731520" y="1783080"/>
            <a:ext cx="7315200" cy="274320"/>
          </a:xfrm>
          <a:prstGeom prst="rect">
            <a:avLst/>
          </a:prstGeom>
          <a:noFill/>
          <a:ln/>
        </p:spPr>
        <p:txBody>
          <a:bodyPr wrap="square" lIns="0" tIns="0" rIns="0" bIns="0" rtlCol="0" anchor="ctr"/>
          <a:lstStyle/>
          <a:p>
            <a:pPr marL="0" indent="0" algn="l">
              <a:buNone/>
            </a:pPr>
            <a:r>
              <a:rPr lang="en-US" sz="1150" kern="0" spc="300" dirty="0">
                <a:solidFill>
                  <a:srgbClr val="DF550B"/>
                </a:solidFill>
                <a:latin typeface="Poppins Medium" pitchFamily="34" charset="0"/>
                <a:ea typeface="Poppins Medium" pitchFamily="34" charset="-122"/>
                <a:cs typeface="Poppins Medium" pitchFamily="34" charset="-120"/>
              </a:rPr>
              <a:t>GEN AI OS  ·  CDC PIPELINE MONITORING</a:t>
            </a:r>
            <a:endParaRPr lang="en-US" sz="1150" dirty="0"/>
          </a:p>
        </p:txBody>
      </p:sp>
      <p:sp>
        <p:nvSpPr>
          <p:cNvPr id="4" name="Text 1"/>
          <p:cNvSpPr/>
          <p:nvPr/>
        </p:nvSpPr>
        <p:spPr>
          <a:xfrm>
            <a:off x="694944" y="2331720"/>
            <a:ext cx="6035040" cy="1828800"/>
          </a:xfrm>
          <a:prstGeom prst="rect">
            <a:avLst/>
          </a:prstGeom>
          <a:noFill/>
          <a:ln/>
        </p:spPr>
        <p:txBody>
          <a:bodyPr wrap="square" lIns="0" tIns="0" rIns="0" bIns="0" rtlCol="0" anchor="t"/>
          <a:lstStyle/>
          <a:p>
            <a:pPr marL="0" indent="0" algn="l">
              <a:lnSpc>
                <a:spcPct val="98000"/>
              </a:lnSpc>
              <a:buNone/>
            </a:pPr>
            <a:r>
              <a:rPr lang="en-US" sz="6000" kern="0" spc="-50" dirty="0">
                <a:solidFill>
                  <a:srgbClr val="212121"/>
                </a:solidFill>
                <a:latin typeface="Poppins" pitchFamily="34" charset="0"/>
                <a:ea typeface="Poppins" pitchFamily="34" charset="-122"/>
                <a:cs typeface="Poppins" pitchFamily="34" charset="-120"/>
              </a:rPr>
              <a:t>The Pipeline</a:t>
            </a:r>
            <a:endParaRPr lang="en-US" sz="6000" dirty="0"/>
          </a:p>
          <a:p>
            <a:pPr marL="0" indent="0" algn="l">
              <a:lnSpc>
                <a:spcPct val="98000"/>
              </a:lnSpc>
              <a:buNone/>
            </a:pPr>
            <a:r>
              <a:rPr lang="en-US" sz="6000" kern="0" spc="-50" dirty="0">
                <a:solidFill>
                  <a:srgbClr val="212121"/>
                </a:solidFill>
                <a:latin typeface="Poppins" pitchFamily="34" charset="0"/>
                <a:ea typeface="Poppins" pitchFamily="34" charset="-122"/>
                <a:cs typeface="Poppins" pitchFamily="34" charset="-120"/>
              </a:rPr>
              <a:t>Agent</a:t>
            </a:r>
            <a:endParaRPr lang="en-US" sz="6000" dirty="0"/>
          </a:p>
        </p:txBody>
      </p:sp>
      <p:sp>
        <p:nvSpPr>
          <p:cNvPr id="5" name="Text 2"/>
          <p:cNvSpPr/>
          <p:nvPr/>
        </p:nvSpPr>
        <p:spPr>
          <a:xfrm>
            <a:off x="731520" y="4297680"/>
            <a:ext cx="5577840" cy="1371600"/>
          </a:xfrm>
          <a:prstGeom prst="rect">
            <a:avLst/>
          </a:prstGeom>
          <a:noFill/>
          <a:ln/>
        </p:spPr>
        <p:txBody>
          <a:bodyPr wrap="square" lIns="0" tIns="0" rIns="0" bIns="0" rtlCol="0" anchor="t"/>
          <a:lstStyle/>
          <a:p>
            <a:pPr marL="0" indent="0" algn="l">
              <a:lnSpc>
                <a:spcPct val="130000"/>
              </a:lnSpc>
              <a:buNone/>
            </a:pPr>
            <a:r>
              <a:rPr lang="en-US" sz="1500" dirty="0">
                <a:solidFill>
                  <a:srgbClr val="8A7D78"/>
                </a:solidFill>
                <a:latin typeface="Poppins" pitchFamily="34" charset="0"/>
                <a:ea typeface="Poppins" pitchFamily="34" charset="-122"/>
                <a:cs typeface="Poppins" pitchFamily="34" charset="-120"/>
              </a:rPr>
              <a:t>Ask your live CDC pipeline anything. Get an answer from real queries. Governed, in Slack, in plain English.</a:t>
            </a:r>
            <a:endParaRPr lang="en-US" sz="1500" dirty="0"/>
          </a:p>
        </p:txBody>
      </p:sp>
      <p:sp>
        <p:nvSpPr>
          <p:cNvPr id="6" name="Text 3"/>
          <p:cNvSpPr/>
          <p:nvPr/>
        </p:nvSpPr>
        <p:spPr>
          <a:xfrm>
            <a:off x="731520" y="5989320"/>
            <a:ext cx="4572000" cy="274320"/>
          </a:xfrm>
          <a:prstGeom prst="rect">
            <a:avLst/>
          </a:prstGeom>
          <a:noFill/>
          <a:ln/>
        </p:spPr>
        <p:txBody>
          <a:bodyPr wrap="square" lIns="0" tIns="0" rIns="0" bIns="0" rtlCol="0" anchor="ctr"/>
          <a:lstStyle/>
          <a:p>
            <a:pPr marL="0" indent="0">
              <a:buNone/>
            </a:pPr>
            <a:r>
              <a:rPr lang="en-US" sz="1100" kern="0" spc="50" dirty="0">
                <a:solidFill>
                  <a:srgbClr val="212121"/>
                </a:solidFill>
                <a:latin typeface="Poppins Medium" pitchFamily="34" charset="0"/>
                <a:ea typeface="Poppins Medium" pitchFamily="34" charset="-122"/>
                <a:cs typeface="Poppins Medium" pitchFamily="34" charset="-120"/>
              </a:rPr>
              <a:t>A MoolAI × Striim concept</a:t>
            </a:r>
            <a:endParaRPr lang="en-US" sz="1100" dirty="0"/>
          </a:p>
        </p:txBody>
      </p:sp>
      <p:sp>
        <p:nvSpPr>
          <p:cNvPr id="7" name="Text 4"/>
          <p:cNvSpPr/>
          <p:nvPr/>
        </p:nvSpPr>
        <p:spPr>
          <a:xfrm>
            <a:off x="731520" y="6281928"/>
            <a:ext cx="5486400" cy="274320"/>
          </a:xfrm>
          <a:prstGeom prst="rect">
            <a:avLst/>
          </a:prstGeom>
          <a:noFill/>
          <a:ln/>
        </p:spPr>
        <p:txBody>
          <a:bodyPr wrap="square" lIns="0" tIns="0" rIns="0" bIns="0" rtlCol="0" anchor="ctr"/>
          <a:lstStyle/>
          <a:p>
            <a:pPr marL="0" indent="0">
              <a:buNone/>
            </a:pPr>
            <a:r>
              <a:rPr lang="en-US" sz="1050" dirty="0">
                <a:solidFill>
                  <a:srgbClr val="8A7D78"/>
                </a:solidFill>
                <a:latin typeface="Poppins" pitchFamily="34" charset="0"/>
                <a:ea typeface="Poppins" pitchFamily="34" charset="-122"/>
                <a:cs typeface="Poppins" pitchFamily="34" charset="-120"/>
              </a:rPr>
              <a:t>Real-time replication monitoring, made legible.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30352"/>
            <a:ext cx="7315200" cy="274320"/>
          </a:xfrm>
          <a:prstGeom prst="rect">
            <a:avLst/>
          </a:prstGeom>
          <a:noFill/>
          <a:ln/>
        </p:spPr>
        <p:txBody>
          <a:bodyPr wrap="square" lIns="0" tIns="0" rIns="0" bIns="0" rtlCol="0" anchor="ctr"/>
          <a:lstStyle/>
          <a:p>
            <a:pPr marL="0" indent="0" algn="l">
              <a:buNone/>
            </a:pPr>
            <a:r>
              <a:rPr lang="en-US" sz="1150" kern="0" spc="300" dirty="0">
                <a:solidFill>
                  <a:srgbClr val="E74A0A"/>
                </a:solidFill>
                <a:latin typeface="Poppins Medium" pitchFamily="34" charset="0"/>
                <a:ea typeface="Poppins Medium" pitchFamily="34" charset="-122"/>
                <a:cs typeface="Poppins Medium" pitchFamily="34" charset="-120"/>
              </a:rPr>
              <a:t>THE PROBLEM</a:t>
            </a:r>
            <a:endParaRPr lang="en-US" sz="1150" dirty="0"/>
          </a:p>
        </p:txBody>
      </p:sp>
      <p:sp>
        <p:nvSpPr>
          <p:cNvPr id="3" name="Text 1"/>
          <p:cNvSpPr/>
          <p:nvPr/>
        </p:nvSpPr>
        <p:spPr>
          <a:xfrm>
            <a:off x="685800" y="914400"/>
            <a:ext cx="10881360" cy="1371600"/>
          </a:xfrm>
          <a:prstGeom prst="rect">
            <a:avLst/>
          </a:prstGeom>
          <a:noFill/>
          <a:ln/>
        </p:spPr>
        <p:txBody>
          <a:bodyPr wrap="square" lIns="0" tIns="0" rIns="0" bIns="0" rtlCol="0" anchor="t"/>
          <a:lstStyle/>
          <a:p>
            <a:pPr marL="0" indent="0" algn="l">
              <a:lnSpc>
                <a:spcPct val="106000"/>
              </a:lnSpc>
              <a:buNone/>
            </a:pPr>
            <a:r>
              <a:rPr lang="en-US" sz="3000" kern="0" spc="-30" dirty="0">
                <a:solidFill>
                  <a:srgbClr val="212121"/>
                </a:solidFill>
                <a:latin typeface="Poppins" pitchFamily="34" charset="0"/>
                <a:ea typeface="Poppins" pitchFamily="34" charset="-122"/>
                <a:cs typeface="Poppins" pitchFamily="34" charset="-120"/>
              </a:rPr>
              <a:t>Striim moves data the instant it changes. Every real-time stream also hides a </a:t>
            </a:r>
            <a:r>
              <a:rPr lang="en-US" sz="3000" kern="0" spc="-30" dirty="0">
                <a:solidFill>
                  <a:srgbClr val="E74A0A"/>
                </a:solidFill>
                <a:latin typeface="Poppins" pitchFamily="34" charset="0"/>
                <a:ea typeface="Poppins" pitchFamily="34" charset="-122"/>
                <a:cs typeface="Poppins" pitchFamily="34" charset="-120"/>
              </a:rPr>
              <a:t>silent failure mode</a:t>
            </a:r>
            <a:r>
              <a:rPr lang="en-US" sz="3000" kern="0" spc="-30" dirty="0">
                <a:solidFill>
                  <a:srgbClr val="212121"/>
                </a:solidFill>
                <a:latin typeface="Poppins" pitchFamily="34" charset="0"/>
                <a:ea typeface="Poppins" pitchFamily="34" charset="-122"/>
                <a:cs typeface="Poppins" pitchFamily="34" charset="-120"/>
              </a:rPr>
              <a:t>.</a:t>
            </a:r>
            <a:endParaRPr lang="en-US" sz="3000" dirty="0"/>
          </a:p>
        </p:txBody>
      </p:sp>
      <p:sp>
        <p:nvSpPr>
          <p:cNvPr id="4" name="Text 2"/>
          <p:cNvSpPr/>
          <p:nvPr/>
        </p:nvSpPr>
        <p:spPr>
          <a:xfrm>
            <a:off x="685800" y="2212848"/>
            <a:ext cx="10881360" cy="640080"/>
          </a:xfrm>
          <a:prstGeom prst="rect">
            <a:avLst/>
          </a:prstGeom>
          <a:noFill/>
          <a:ln/>
        </p:spPr>
        <p:txBody>
          <a:bodyPr wrap="square" lIns="0" tIns="0" rIns="0" bIns="0" rtlCol="0" anchor="t"/>
          <a:lstStyle/>
          <a:p>
            <a:pPr marL="0" indent="0">
              <a:lnSpc>
                <a:spcPct val="130000"/>
              </a:lnSpc>
              <a:buNone/>
            </a:pPr>
            <a:r>
              <a:rPr lang="en-US" sz="1250" dirty="0">
                <a:solidFill>
                  <a:srgbClr val="DF550B"/>
                </a:solidFill>
                <a:latin typeface="Poppins Medium" pitchFamily="34" charset="0"/>
                <a:ea typeface="Poppins Medium" pitchFamily="34" charset="-122"/>
                <a:cs typeface="Poppins Medium" pitchFamily="34" charset="-120"/>
              </a:rPr>
              <a:t>What Striim does:  </a:t>
            </a:r>
            <a:r>
              <a:rPr lang="en-US" sz="1250" dirty="0">
                <a:solidFill>
                  <a:srgbClr val="8A7D78"/>
                </a:solidFill>
                <a:latin typeface="Poppins" pitchFamily="34" charset="0"/>
                <a:ea typeface="Poppins" pitchFamily="34" charset="-122"/>
                <a:cs typeface="Poppins" pitchFamily="34" charset="-120"/>
              </a:rPr>
              <a:t>real-time CDC from </a:t>
            </a:r>
            <a:r>
              <a:rPr lang="en-US" sz="1250" dirty="0">
                <a:solidFill>
                  <a:srgbClr val="212121"/>
                </a:solidFill>
                <a:latin typeface="Poppins" pitchFamily="34" charset="0"/>
                <a:ea typeface="Poppins" pitchFamily="34" charset="-122"/>
                <a:cs typeface="Poppins" pitchFamily="34" charset="-120"/>
              </a:rPr>
              <a:t>Oracle, SQL Server and Postgres</a:t>
            </a:r>
            <a:r>
              <a:rPr lang="en-US" sz="1250" dirty="0">
                <a:solidFill>
                  <a:srgbClr val="8A7D78"/>
                </a:solidFill>
                <a:latin typeface="Poppins" pitchFamily="34" charset="0"/>
                <a:ea typeface="Poppins" pitchFamily="34" charset="-122"/>
                <a:cs typeface="Poppins" pitchFamily="34" charset="-120"/>
              </a:rPr>
              <a:t> into </a:t>
            </a:r>
            <a:r>
              <a:rPr lang="en-US" sz="1250" dirty="0">
                <a:solidFill>
                  <a:srgbClr val="212121"/>
                </a:solidFill>
                <a:latin typeface="Poppins" pitchFamily="34" charset="0"/>
                <a:ea typeface="Poppins" pitchFamily="34" charset="-122"/>
                <a:cs typeface="Poppins" pitchFamily="34" charset="-120"/>
              </a:rPr>
              <a:t>Snowflake, BigQuery, Databricks and Kafka</a:t>
            </a:r>
            <a:r>
              <a:rPr lang="en-US" sz="1250" dirty="0">
                <a:solidFill>
                  <a:srgbClr val="8A7D78"/>
                </a:solidFill>
                <a:latin typeface="Poppins" pitchFamily="34" charset="0"/>
                <a:ea typeface="Poppins" pitchFamily="34" charset="-122"/>
                <a:cs typeface="Poppins" pitchFamily="34" charset="-120"/>
              </a:rPr>
              <a:t>.  Over 100 connectors, billions of events a minute, trusted by teams like UPS and American Airlines.</a:t>
            </a:r>
            <a:endParaRPr lang="en-US" sz="1250" dirty="0"/>
          </a:p>
        </p:txBody>
      </p:sp>
      <p:sp>
        <p:nvSpPr>
          <p:cNvPr id="5" name="Text 3"/>
          <p:cNvSpPr/>
          <p:nvPr/>
        </p:nvSpPr>
        <p:spPr>
          <a:xfrm>
            <a:off x="685800" y="3246120"/>
            <a:ext cx="5257800" cy="1371600"/>
          </a:xfrm>
          <a:prstGeom prst="rect">
            <a:avLst/>
          </a:prstGeom>
          <a:noFill/>
          <a:ln/>
        </p:spPr>
        <p:txBody>
          <a:bodyPr wrap="square" lIns="0" tIns="0" rIns="0" bIns="0" rtlCol="0" anchor="t"/>
          <a:lstStyle/>
          <a:p>
            <a:pPr marL="0" indent="0" algn="l">
              <a:lnSpc>
                <a:spcPct val="138000"/>
              </a:lnSpc>
              <a:buNone/>
            </a:pPr>
            <a:r>
              <a:rPr lang="en-US" sz="1350" dirty="0">
                <a:solidFill>
                  <a:srgbClr val="212121"/>
                </a:solidFill>
                <a:latin typeface="Poppins" pitchFamily="34" charset="0"/>
                <a:ea typeface="Poppins" pitchFamily="34" charset="-122"/>
                <a:cs typeface="Poppins" pitchFamily="34" charset="-120"/>
              </a:rPr>
              <a:t>CDC works because the source never drops a change until the reader confirms it. That is the guarantee Striim is built on. If a stream falls behind, though, the source keeps that WAL on disk, waiting. It grows, the source database's disk fills, and the system Striim feeds from goes down. Striim already shows you end-to-end latency. The catch is that someone has to be watching.</a:t>
            </a:r>
            <a:endParaRPr lang="en-US" sz="1350" dirty="0"/>
          </a:p>
        </p:txBody>
      </p:sp>
      <p:sp>
        <p:nvSpPr>
          <p:cNvPr id="6" name="Text 4"/>
          <p:cNvSpPr/>
          <p:nvPr/>
        </p:nvSpPr>
        <p:spPr>
          <a:xfrm>
            <a:off x="6537960" y="3108960"/>
            <a:ext cx="4937760" cy="274320"/>
          </a:xfrm>
          <a:prstGeom prst="rect">
            <a:avLst/>
          </a:prstGeom>
          <a:noFill/>
          <a:ln/>
        </p:spPr>
        <p:txBody>
          <a:bodyPr wrap="square" lIns="0" tIns="0" rIns="0" bIns="0" rtlCol="0" anchor="ctr"/>
          <a:lstStyle/>
          <a:p>
            <a:pPr marL="0" indent="0">
              <a:buNone/>
            </a:pPr>
            <a:r>
              <a:rPr lang="en-US" sz="1050" kern="0" spc="250" dirty="0">
                <a:solidFill>
                  <a:srgbClr val="8A7D78"/>
                </a:solidFill>
                <a:latin typeface="Poppins Medium" pitchFamily="34" charset="0"/>
                <a:ea typeface="Poppins Medium" pitchFamily="34" charset="-122"/>
                <a:cs typeface="Poppins Medium" pitchFamily="34" charset="-120"/>
              </a:rPr>
              <a:t>THE SILENT CASCADE</a:t>
            </a:r>
            <a:endParaRPr lang="en-US" sz="1050" dirty="0"/>
          </a:p>
        </p:txBody>
      </p:sp>
      <p:sp>
        <p:nvSpPr>
          <p:cNvPr id="7" name="Shape 5"/>
          <p:cNvSpPr/>
          <p:nvPr/>
        </p:nvSpPr>
        <p:spPr>
          <a:xfrm>
            <a:off x="6537960" y="3429000"/>
            <a:ext cx="4937760" cy="530352"/>
          </a:xfrm>
          <a:prstGeom prst="roundRect">
            <a:avLst>
              <a:gd name="adj" fmla="val 17241"/>
            </a:avLst>
          </a:prstGeom>
          <a:solidFill>
            <a:srgbClr val="FAF8F5"/>
          </a:solidFill>
          <a:ln w="12700">
            <a:solidFill>
              <a:srgbClr val="E6DFD6"/>
            </a:solidFill>
            <a:prstDash val="solid"/>
          </a:ln>
        </p:spPr>
        <p:txBody>
          <a:bodyPr/>
          <a:lstStyle/>
          <a:p>
            <a:endParaRPr lang="en-US"/>
          </a:p>
        </p:txBody>
      </p:sp>
      <p:sp>
        <p:nvSpPr>
          <p:cNvPr id="8" name="Shape 6"/>
          <p:cNvSpPr/>
          <p:nvPr/>
        </p:nvSpPr>
        <p:spPr>
          <a:xfrm>
            <a:off x="6684264" y="3511296"/>
            <a:ext cx="365760" cy="365760"/>
          </a:xfrm>
          <a:prstGeom prst="ellipse">
            <a:avLst/>
          </a:prstGeom>
          <a:solidFill>
            <a:srgbClr val="EEA53A"/>
          </a:solidFill>
          <a:ln/>
        </p:spPr>
        <p:txBody>
          <a:bodyPr/>
          <a:lstStyle/>
          <a:p>
            <a:endParaRPr lang="en-US"/>
          </a:p>
        </p:txBody>
      </p:sp>
      <p:pic>
        <p:nvPicPr>
          <p:cNvPr id="9" name="Image 0" descr="/home/claude/deck/assets/icons/alert_ink.png"/>
          <p:cNvPicPr>
            <a:picLocks noChangeAspect="1"/>
          </p:cNvPicPr>
          <p:nvPr/>
        </p:nvPicPr>
        <p:blipFill>
          <a:blip r:embed="rId4"/>
          <a:stretch>
            <a:fillRect/>
          </a:stretch>
        </p:blipFill>
        <p:spPr>
          <a:xfrm>
            <a:off x="6772046" y="3599078"/>
            <a:ext cx="190195" cy="190195"/>
          </a:xfrm>
          <a:prstGeom prst="rect">
            <a:avLst/>
          </a:prstGeom>
        </p:spPr>
      </p:pic>
      <p:sp>
        <p:nvSpPr>
          <p:cNvPr id="10" name="Text 7"/>
          <p:cNvSpPr/>
          <p:nvPr/>
        </p:nvSpPr>
        <p:spPr>
          <a:xfrm>
            <a:off x="7196328" y="3429000"/>
            <a:ext cx="4114800" cy="530352"/>
          </a:xfrm>
          <a:prstGeom prst="rect">
            <a:avLst/>
          </a:prstGeom>
          <a:noFill/>
          <a:ln/>
        </p:spPr>
        <p:txBody>
          <a:bodyPr wrap="square" lIns="0" tIns="0" rIns="0" bIns="0" rtlCol="0" anchor="ctr"/>
          <a:lstStyle/>
          <a:p>
            <a:pPr marL="0" indent="0">
              <a:buNone/>
            </a:pPr>
            <a:r>
              <a:rPr lang="en-US" sz="1300" dirty="0">
                <a:solidFill>
                  <a:srgbClr val="212121"/>
                </a:solidFill>
                <a:latin typeface="Poppins Medium" pitchFamily="34" charset="0"/>
                <a:ea typeface="Poppins Medium" pitchFamily="34" charset="-122"/>
                <a:cs typeface="Poppins Medium" pitchFamily="34" charset="-120"/>
              </a:rPr>
              <a:t>A real-time stream stalls</a:t>
            </a:r>
            <a:endParaRPr lang="en-US" sz="1300" dirty="0"/>
          </a:p>
        </p:txBody>
      </p:sp>
      <p:sp>
        <p:nvSpPr>
          <p:cNvPr id="11" name="Shape 8"/>
          <p:cNvSpPr/>
          <p:nvPr/>
        </p:nvSpPr>
        <p:spPr>
          <a:xfrm>
            <a:off x="6867144" y="3959352"/>
            <a:ext cx="0" cy="182880"/>
          </a:xfrm>
          <a:prstGeom prst="line">
            <a:avLst/>
          </a:prstGeom>
          <a:noFill/>
          <a:ln w="19050">
            <a:solidFill>
              <a:srgbClr val="C9BEB8"/>
            </a:solidFill>
            <a:prstDash val="solid"/>
            <a:tailEnd type="triangle"/>
          </a:ln>
        </p:spPr>
        <p:txBody>
          <a:bodyPr/>
          <a:lstStyle/>
          <a:p>
            <a:endParaRPr lang="en-US"/>
          </a:p>
        </p:txBody>
      </p:sp>
      <p:sp>
        <p:nvSpPr>
          <p:cNvPr id="12" name="Shape 9"/>
          <p:cNvSpPr/>
          <p:nvPr/>
        </p:nvSpPr>
        <p:spPr>
          <a:xfrm>
            <a:off x="6537960" y="4142232"/>
            <a:ext cx="4937760" cy="530352"/>
          </a:xfrm>
          <a:prstGeom prst="roundRect">
            <a:avLst>
              <a:gd name="adj" fmla="val 17241"/>
            </a:avLst>
          </a:prstGeom>
          <a:solidFill>
            <a:srgbClr val="FAF8F5"/>
          </a:solidFill>
          <a:ln w="12700">
            <a:solidFill>
              <a:srgbClr val="E6DFD6"/>
            </a:solidFill>
            <a:prstDash val="solid"/>
          </a:ln>
        </p:spPr>
        <p:txBody>
          <a:bodyPr/>
          <a:lstStyle/>
          <a:p>
            <a:endParaRPr lang="en-US"/>
          </a:p>
        </p:txBody>
      </p:sp>
      <p:sp>
        <p:nvSpPr>
          <p:cNvPr id="13" name="Shape 10"/>
          <p:cNvSpPr/>
          <p:nvPr/>
        </p:nvSpPr>
        <p:spPr>
          <a:xfrm>
            <a:off x="6684264" y="4224528"/>
            <a:ext cx="365760" cy="365760"/>
          </a:xfrm>
          <a:prstGeom prst="ellipse">
            <a:avLst/>
          </a:prstGeom>
          <a:solidFill>
            <a:srgbClr val="EEA53A"/>
          </a:solidFill>
          <a:ln/>
        </p:spPr>
        <p:txBody>
          <a:bodyPr/>
          <a:lstStyle/>
          <a:p>
            <a:endParaRPr lang="en-US"/>
          </a:p>
        </p:txBody>
      </p:sp>
      <p:pic>
        <p:nvPicPr>
          <p:cNvPr id="14" name="Image 1" descr="/home/claude/deck/assets/icons/db_ink.png"/>
          <p:cNvPicPr>
            <a:picLocks noChangeAspect="1"/>
          </p:cNvPicPr>
          <p:nvPr/>
        </p:nvPicPr>
        <p:blipFill>
          <a:blip r:embed="rId5"/>
          <a:stretch>
            <a:fillRect/>
          </a:stretch>
        </p:blipFill>
        <p:spPr>
          <a:xfrm>
            <a:off x="6772046" y="4312310"/>
            <a:ext cx="190195" cy="190195"/>
          </a:xfrm>
          <a:prstGeom prst="rect">
            <a:avLst/>
          </a:prstGeom>
        </p:spPr>
      </p:pic>
      <p:sp>
        <p:nvSpPr>
          <p:cNvPr id="15" name="Text 11"/>
          <p:cNvSpPr/>
          <p:nvPr/>
        </p:nvSpPr>
        <p:spPr>
          <a:xfrm>
            <a:off x="7196328" y="4142232"/>
            <a:ext cx="4114800" cy="530352"/>
          </a:xfrm>
          <a:prstGeom prst="rect">
            <a:avLst/>
          </a:prstGeom>
          <a:noFill/>
          <a:ln/>
        </p:spPr>
        <p:txBody>
          <a:bodyPr wrap="square" lIns="0" tIns="0" rIns="0" bIns="0" rtlCol="0" anchor="ctr"/>
          <a:lstStyle/>
          <a:p>
            <a:pPr marL="0" indent="0">
              <a:buNone/>
            </a:pPr>
            <a:r>
              <a:rPr lang="en-US" sz="1300" dirty="0">
                <a:solidFill>
                  <a:srgbClr val="212121"/>
                </a:solidFill>
                <a:latin typeface="Poppins Medium" pitchFamily="34" charset="0"/>
                <a:ea typeface="Poppins Medium" pitchFamily="34" charset="-122"/>
                <a:cs typeface="Poppins Medium" pitchFamily="34" charset="-120"/>
              </a:rPr>
              <a:t>The source retains its WAL</a:t>
            </a:r>
            <a:endParaRPr lang="en-US" sz="1300" dirty="0"/>
          </a:p>
        </p:txBody>
      </p:sp>
      <p:sp>
        <p:nvSpPr>
          <p:cNvPr id="16" name="Shape 12"/>
          <p:cNvSpPr/>
          <p:nvPr/>
        </p:nvSpPr>
        <p:spPr>
          <a:xfrm>
            <a:off x="6867144" y="4672584"/>
            <a:ext cx="0" cy="182880"/>
          </a:xfrm>
          <a:prstGeom prst="line">
            <a:avLst/>
          </a:prstGeom>
          <a:noFill/>
          <a:ln w="19050">
            <a:solidFill>
              <a:srgbClr val="C9BEB8"/>
            </a:solidFill>
            <a:prstDash val="solid"/>
            <a:tailEnd type="triangle"/>
          </a:ln>
        </p:spPr>
        <p:txBody>
          <a:bodyPr/>
          <a:lstStyle/>
          <a:p>
            <a:endParaRPr lang="en-US"/>
          </a:p>
        </p:txBody>
      </p:sp>
      <p:sp>
        <p:nvSpPr>
          <p:cNvPr id="17" name="Shape 13"/>
          <p:cNvSpPr/>
          <p:nvPr/>
        </p:nvSpPr>
        <p:spPr>
          <a:xfrm>
            <a:off x="6537960" y="4855464"/>
            <a:ext cx="4937760" cy="530352"/>
          </a:xfrm>
          <a:prstGeom prst="roundRect">
            <a:avLst>
              <a:gd name="adj" fmla="val 17241"/>
            </a:avLst>
          </a:prstGeom>
          <a:solidFill>
            <a:srgbClr val="FAF8F5"/>
          </a:solidFill>
          <a:ln w="12700">
            <a:solidFill>
              <a:srgbClr val="E6DFD6"/>
            </a:solidFill>
            <a:prstDash val="solid"/>
          </a:ln>
        </p:spPr>
        <p:txBody>
          <a:bodyPr/>
          <a:lstStyle/>
          <a:p>
            <a:endParaRPr lang="en-US"/>
          </a:p>
        </p:txBody>
      </p:sp>
      <p:sp>
        <p:nvSpPr>
          <p:cNvPr id="18" name="Shape 14"/>
          <p:cNvSpPr/>
          <p:nvPr/>
        </p:nvSpPr>
        <p:spPr>
          <a:xfrm>
            <a:off x="6684264" y="4937760"/>
            <a:ext cx="365760" cy="365760"/>
          </a:xfrm>
          <a:prstGeom prst="ellipse">
            <a:avLst/>
          </a:prstGeom>
          <a:solidFill>
            <a:srgbClr val="EEA53A"/>
          </a:solidFill>
          <a:ln/>
        </p:spPr>
        <p:txBody>
          <a:bodyPr/>
          <a:lstStyle/>
          <a:p>
            <a:endParaRPr lang="en-US"/>
          </a:p>
        </p:txBody>
      </p:sp>
      <p:pic>
        <p:nvPicPr>
          <p:cNvPr id="19" name="Image 2" descr="/home/claude/deck/assets/icons/server_ink.png"/>
          <p:cNvPicPr>
            <a:picLocks noChangeAspect="1"/>
          </p:cNvPicPr>
          <p:nvPr/>
        </p:nvPicPr>
        <p:blipFill>
          <a:blip r:embed="rId6"/>
          <a:stretch>
            <a:fillRect/>
          </a:stretch>
        </p:blipFill>
        <p:spPr>
          <a:xfrm>
            <a:off x="6772046" y="5025542"/>
            <a:ext cx="190195" cy="190195"/>
          </a:xfrm>
          <a:prstGeom prst="rect">
            <a:avLst/>
          </a:prstGeom>
        </p:spPr>
      </p:pic>
      <p:sp>
        <p:nvSpPr>
          <p:cNvPr id="20" name="Text 15"/>
          <p:cNvSpPr/>
          <p:nvPr/>
        </p:nvSpPr>
        <p:spPr>
          <a:xfrm>
            <a:off x="7196328" y="4855464"/>
            <a:ext cx="4114800" cy="530352"/>
          </a:xfrm>
          <a:prstGeom prst="rect">
            <a:avLst/>
          </a:prstGeom>
          <a:noFill/>
          <a:ln/>
        </p:spPr>
        <p:txBody>
          <a:bodyPr wrap="square" lIns="0" tIns="0" rIns="0" bIns="0" rtlCol="0" anchor="ctr"/>
          <a:lstStyle/>
          <a:p>
            <a:pPr marL="0" indent="0">
              <a:buNone/>
            </a:pPr>
            <a:r>
              <a:rPr lang="en-US" sz="1300" dirty="0">
                <a:solidFill>
                  <a:srgbClr val="212121"/>
                </a:solidFill>
                <a:latin typeface="Poppins Medium" pitchFamily="34" charset="0"/>
                <a:ea typeface="Poppins Medium" pitchFamily="34" charset="-122"/>
                <a:cs typeface="Poppins Medium" pitchFamily="34" charset="-120"/>
              </a:rPr>
              <a:t>Source database disk fills</a:t>
            </a:r>
            <a:endParaRPr lang="en-US" sz="1300" dirty="0"/>
          </a:p>
        </p:txBody>
      </p:sp>
      <p:sp>
        <p:nvSpPr>
          <p:cNvPr id="21" name="Shape 16"/>
          <p:cNvSpPr/>
          <p:nvPr/>
        </p:nvSpPr>
        <p:spPr>
          <a:xfrm>
            <a:off x="6867144" y="5385816"/>
            <a:ext cx="0" cy="182880"/>
          </a:xfrm>
          <a:prstGeom prst="line">
            <a:avLst/>
          </a:prstGeom>
          <a:noFill/>
          <a:ln w="19050">
            <a:solidFill>
              <a:srgbClr val="C9BEB8"/>
            </a:solidFill>
            <a:prstDash val="solid"/>
            <a:tailEnd type="triangle"/>
          </a:ln>
        </p:spPr>
        <p:txBody>
          <a:bodyPr/>
          <a:lstStyle/>
          <a:p>
            <a:endParaRPr lang="en-US"/>
          </a:p>
        </p:txBody>
      </p:sp>
      <p:sp>
        <p:nvSpPr>
          <p:cNvPr id="22" name="Shape 17"/>
          <p:cNvSpPr/>
          <p:nvPr/>
        </p:nvSpPr>
        <p:spPr>
          <a:xfrm>
            <a:off x="6537960" y="5568696"/>
            <a:ext cx="4937760" cy="530352"/>
          </a:xfrm>
          <a:prstGeom prst="roundRect">
            <a:avLst>
              <a:gd name="adj" fmla="val 17241"/>
            </a:avLst>
          </a:prstGeom>
          <a:solidFill>
            <a:srgbClr val="E74A0A"/>
          </a:solidFill>
          <a:ln w="12700">
            <a:solidFill>
              <a:srgbClr val="E74A0A"/>
            </a:solidFill>
            <a:prstDash val="solid"/>
          </a:ln>
        </p:spPr>
        <p:txBody>
          <a:bodyPr/>
          <a:lstStyle/>
          <a:p>
            <a:endParaRPr lang="en-US"/>
          </a:p>
        </p:txBody>
      </p:sp>
      <p:sp>
        <p:nvSpPr>
          <p:cNvPr id="23" name="Shape 18"/>
          <p:cNvSpPr/>
          <p:nvPr/>
        </p:nvSpPr>
        <p:spPr>
          <a:xfrm>
            <a:off x="6684264" y="5650992"/>
            <a:ext cx="365760" cy="365760"/>
          </a:xfrm>
          <a:prstGeom prst="ellipse">
            <a:avLst/>
          </a:prstGeom>
          <a:solidFill>
            <a:srgbClr val="FFFFFF"/>
          </a:solidFill>
          <a:ln/>
        </p:spPr>
        <p:txBody>
          <a:bodyPr/>
          <a:lstStyle/>
          <a:p>
            <a:endParaRPr lang="en-US"/>
          </a:p>
        </p:txBody>
      </p:sp>
      <p:pic>
        <p:nvPicPr>
          <p:cNvPr id="24" name="Image 3" descr="/home/claude/deck/assets/icons/zap_orange.png"/>
          <p:cNvPicPr>
            <a:picLocks noChangeAspect="1"/>
          </p:cNvPicPr>
          <p:nvPr/>
        </p:nvPicPr>
        <p:blipFill>
          <a:blip r:embed="rId7"/>
          <a:stretch>
            <a:fillRect/>
          </a:stretch>
        </p:blipFill>
        <p:spPr>
          <a:xfrm>
            <a:off x="6772046" y="5738774"/>
            <a:ext cx="190195" cy="190195"/>
          </a:xfrm>
          <a:prstGeom prst="rect">
            <a:avLst/>
          </a:prstGeom>
        </p:spPr>
      </p:pic>
      <p:sp>
        <p:nvSpPr>
          <p:cNvPr id="25" name="Text 19"/>
          <p:cNvSpPr/>
          <p:nvPr/>
        </p:nvSpPr>
        <p:spPr>
          <a:xfrm>
            <a:off x="7196328" y="5568696"/>
            <a:ext cx="4114800" cy="530352"/>
          </a:xfrm>
          <a:prstGeom prst="rect">
            <a:avLst/>
          </a:prstGeom>
          <a:noFill/>
          <a:ln/>
        </p:spPr>
        <p:txBody>
          <a:bodyPr wrap="square" lIns="0" tIns="0" rIns="0" bIns="0" rtlCol="0" anchor="ctr"/>
          <a:lstStyle/>
          <a:p>
            <a:pPr marL="0" indent="0">
              <a:buNone/>
            </a:pPr>
            <a:r>
              <a:rPr lang="en-US" sz="1300" dirty="0">
                <a:solidFill>
                  <a:srgbClr val="FFFFFF"/>
                </a:solidFill>
                <a:latin typeface="Poppins Medium" pitchFamily="34" charset="0"/>
                <a:ea typeface="Poppins Medium" pitchFamily="34" charset="-122"/>
                <a:cs typeface="Poppins Medium" pitchFamily="34" charset="-120"/>
              </a:rPr>
              <a:t>Production database goes down</a:t>
            </a:r>
            <a:endParaRPr lang="en-US" sz="1300" dirty="0"/>
          </a:p>
        </p:txBody>
      </p:sp>
      <p:pic>
        <p:nvPicPr>
          <p:cNvPr id="26" name="Image 4" descr="/home/claude/deck/assets/logomark_hi.png"/>
          <p:cNvPicPr>
            <a:picLocks noChangeAspect="1"/>
          </p:cNvPicPr>
          <p:nvPr/>
        </p:nvPicPr>
        <p:blipFill>
          <a:blip r:embed="rId8"/>
          <a:stretch>
            <a:fillRect/>
          </a:stretch>
        </p:blipFill>
        <p:spPr>
          <a:xfrm>
            <a:off x="685800" y="6419088"/>
            <a:ext cx="201168" cy="201168"/>
          </a:xfrm>
          <a:prstGeom prst="rect">
            <a:avLst/>
          </a:prstGeom>
        </p:spPr>
      </p:pic>
      <p:sp>
        <p:nvSpPr>
          <p:cNvPr id="27" name="Text 20"/>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8A7D78"/>
                </a:solidFill>
                <a:latin typeface="Poppins Medium" pitchFamily="34" charset="0"/>
                <a:ea typeface="Poppins Medium" pitchFamily="34" charset="-122"/>
                <a:cs typeface="Poppins Medium" pitchFamily="34" charset="-120"/>
              </a:rPr>
              <a:t>MoolAI  ×  Striim</a:t>
            </a:r>
            <a:endParaRPr lang="en-US" sz="850" dirty="0"/>
          </a:p>
        </p:txBody>
      </p:sp>
      <p:sp>
        <p:nvSpPr>
          <p:cNvPr id="28" name="Text 21"/>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8A7D78"/>
                </a:solidFill>
                <a:latin typeface="Poppins" pitchFamily="34" charset="0"/>
                <a:ea typeface="Poppins" pitchFamily="34" charset="-122"/>
                <a:cs typeface="Poppins" pitchFamily="34" charset="-120"/>
              </a:rPr>
              <a:t>02 / 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lgn="l">
              <a:buNone/>
            </a:pPr>
            <a:r>
              <a:rPr lang="en-US" sz="1150" kern="0" spc="300" dirty="0">
                <a:solidFill>
                  <a:srgbClr val="E74A0A"/>
                </a:solidFill>
                <a:latin typeface="Poppins Medium" pitchFamily="34" charset="0"/>
                <a:ea typeface="Poppins Medium" pitchFamily="34" charset="-122"/>
                <a:cs typeface="Poppins Medium" pitchFamily="34" charset="-120"/>
              </a:rPr>
              <a:t>THE HUMAN GAP</a:t>
            </a:r>
            <a:endParaRPr lang="en-US" sz="1150" dirty="0"/>
          </a:p>
        </p:txBody>
      </p:sp>
      <p:sp>
        <p:nvSpPr>
          <p:cNvPr id="3" name="Text 1"/>
          <p:cNvSpPr/>
          <p:nvPr/>
        </p:nvSpPr>
        <p:spPr>
          <a:xfrm>
            <a:off x="685800" y="1024128"/>
            <a:ext cx="10607040" cy="1554480"/>
          </a:xfrm>
          <a:prstGeom prst="rect">
            <a:avLst/>
          </a:prstGeom>
          <a:noFill/>
          <a:ln/>
        </p:spPr>
        <p:txBody>
          <a:bodyPr wrap="square" lIns="0" tIns="0" rIns="0" bIns="0" rtlCol="0" anchor="t"/>
          <a:lstStyle/>
          <a:p>
            <a:pPr marL="0" indent="0" algn="l">
              <a:lnSpc>
                <a:spcPct val="108000"/>
              </a:lnSpc>
              <a:buNone/>
            </a:pPr>
            <a:r>
              <a:rPr lang="en-US" sz="3200" kern="0" spc="-30" dirty="0">
                <a:solidFill>
                  <a:srgbClr val="212121"/>
                </a:solidFill>
                <a:latin typeface="Poppins" pitchFamily="34" charset="0"/>
                <a:ea typeface="Poppins" pitchFamily="34" charset="-122"/>
                <a:cs typeface="Poppins" pitchFamily="34" charset="-120"/>
              </a:rPr>
              <a:t>Seeing it coming takes a </a:t>
            </a:r>
            <a:r>
              <a:rPr lang="en-US" sz="3200" kern="0" spc="-30" dirty="0">
                <a:solidFill>
                  <a:srgbClr val="E74A0A"/>
                </a:solidFill>
                <a:latin typeface="Poppins" pitchFamily="34" charset="0"/>
                <a:ea typeface="Poppins" pitchFamily="34" charset="-122"/>
                <a:cs typeface="Poppins" pitchFamily="34" charset="-120"/>
              </a:rPr>
              <a:t>specialist</a:t>
            </a:r>
            <a:r>
              <a:rPr lang="en-US" sz="3200" kern="0" spc="-30" dirty="0">
                <a:solidFill>
                  <a:srgbClr val="212121"/>
                </a:solidFill>
                <a:latin typeface="Poppins" pitchFamily="34" charset="0"/>
                <a:ea typeface="Poppins" pitchFamily="34" charset="-122"/>
                <a:cs typeface="Poppins" pitchFamily="34" charset="-120"/>
              </a:rPr>
              <a:t>. The people who need to know can't get the answer themselves.</a:t>
            </a:r>
            <a:endParaRPr lang="en-US" sz="3200" dirty="0"/>
          </a:p>
        </p:txBody>
      </p:sp>
      <p:sp>
        <p:nvSpPr>
          <p:cNvPr id="4" name="Shape 2"/>
          <p:cNvSpPr/>
          <p:nvPr/>
        </p:nvSpPr>
        <p:spPr>
          <a:xfrm>
            <a:off x="685800" y="2971800"/>
            <a:ext cx="5181448" cy="3063240"/>
          </a:xfrm>
          <a:prstGeom prst="roundRect">
            <a:avLst>
              <a:gd name="adj" fmla="val 4776"/>
            </a:avLst>
          </a:prstGeom>
          <a:solidFill>
            <a:srgbClr val="212121"/>
          </a:solidFill>
          <a:ln/>
          <a:effectLst>
            <a:outerShdw blurRad="127000" dist="50800" dir="5400000" algn="bl" rotWithShape="0">
              <a:srgbClr val="C9BEB8">
                <a:alpha val="28000"/>
              </a:srgbClr>
            </a:outerShdw>
          </a:effectLst>
        </p:spPr>
        <p:txBody>
          <a:bodyPr/>
          <a:lstStyle/>
          <a:p>
            <a:endParaRPr lang="en-US"/>
          </a:p>
        </p:txBody>
      </p:sp>
      <p:sp>
        <p:nvSpPr>
          <p:cNvPr id="5" name="Shape 3"/>
          <p:cNvSpPr/>
          <p:nvPr/>
        </p:nvSpPr>
        <p:spPr>
          <a:xfrm>
            <a:off x="1143000" y="3429000"/>
            <a:ext cx="566928" cy="566928"/>
          </a:xfrm>
          <a:prstGeom prst="ellipse">
            <a:avLst/>
          </a:prstGeom>
          <a:solidFill>
            <a:srgbClr val="EEA53A"/>
          </a:solidFill>
          <a:ln/>
        </p:spPr>
        <p:txBody>
          <a:bodyPr/>
          <a:lstStyle/>
          <a:p>
            <a:endParaRPr lang="en-US"/>
          </a:p>
        </p:txBody>
      </p:sp>
      <p:pic>
        <p:nvPicPr>
          <p:cNvPr id="6" name="Image 0" descr="/home/claude/deck/assets/icons/activity_ink.png"/>
          <p:cNvPicPr>
            <a:picLocks noChangeAspect="1"/>
          </p:cNvPicPr>
          <p:nvPr/>
        </p:nvPicPr>
        <p:blipFill>
          <a:blip r:embed="rId4"/>
          <a:stretch>
            <a:fillRect/>
          </a:stretch>
        </p:blipFill>
        <p:spPr>
          <a:xfrm>
            <a:off x="1279063" y="3565063"/>
            <a:ext cx="294803" cy="294803"/>
          </a:xfrm>
          <a:prstGeom prst="rect">
            <a:avLst/>
          </a:prstGeom>
        </p:spPr>
      </p:pic>
      <p:sp>
        <p:nvSpPr>
          <p:cNvPr id="7" name="Text 4"/>
          <p:cNvSpPr/>
          <p:nvPr/>
        </p:nvSpPr>
        <p:spPr>
          <a:xfrm>
            <a:off x="1143000" y="4160520"/>
            <a:ext cx="4267048" cy="457200"/>
          </a:xfrm>
          <a:prstGeom prst="rect">
            <a:avLst/>
          </a:prstGeom>
          <a:noFill/>
          <a:ln/>
        </p:spPr>
        <p:txBody>
          <a:bodyPr wrap="square" lIns="0" tIns="0" rIns="0" bIns="0" rtlCol="0" anchor="ctr"/>
          <a:lstStyle/>
          <a:p>
            <a:pPr marL="0" indent="0">
              <a:buNone/>
            </a:pPr>
            <a:r>
              <a:rPr lang="en-US" sz="2000" dirty="0">
                <a:solidFill>
                  <a:srgbClr val="FFFFFF"/>
                </a:solidFill>
                <a:latin typeface="Poppins Medium" pitchFamily="34" charset="0"/>
                <a:ea typeface="Poppins Medium" pitchFamily="34" charset="-122"/>
                <a:cs typeface="Poppins Medium" pitchFamily="34" charset="-120"/>
              </a:rPr>
              <a:t>Who needs to know</a:t>
            </a:r>
            <a:endParaRPr lang="en-US" sz="2000" dirty="0"/>
          </a:p>
        </p:txBody>
      </p:sp>
      <p:sp>
        <p:nvSpPr>
          <p:cNvPr id="8" name="Text 5"/>
          <p:cNvSpPr/>
          <p:nvPr/>
        </p:nvSpPr>
        <p:spPr>
          <a:xfrm>
            <a:off x="1143000" y="4727448"/>
            <a:ext cx="4267048" cy="1188720"/>
          </a:xfrm>
          <a:prstGeom prst="rect">
            <a:avLst/>
          </a:prstGeom>
          <a:noFill/>
          <a:ln/>
        </p:spPr>
        <p:txBody>
          <a:bodyPr wrap="square" lIns="0" tIns="0" rIns="0" bIns="0" rtlCol="0" anchor="t"/>
          <a:lstStyle/>
          <a:p>
            <a:pPr marL="0" indent="0">
              <a:lnSpc>
                <a:spcPct val="134000"/>
              </a:lnSpc>
              <a:buNone/>
            </a:pPr>
            <a:r>
              <a:rPr lang="en-US" sz="1250" dirty="0">
                <a:solidFill>
                  <a:srgbClr val="F4D9C6"/>
                </a:solidFill>
                <a:latin typeface="Poppins" pitchFamily="34" charset="0"/>
                <a:ea typeface="Poppins" pitchFamily="34" charset="-122"/>
                <a:cs typeface="Poppins" pitchFamily="34" charset="-120"/>
              </a:rPr>
              <a:t>On-call engineers, the analytics team, the business owner asking </a:t>
            </a:r>
            <a:r>
              <a:rPr lang="en-US" sz="1250" i="1" dirty="0">
                <a:solidFill>
                  <a:srgbClr val="EEA53A"/>
                </a:solidFill>
                <a:latin typeface="Poppins" pitchFamily="34" charset="0"/>
                <a:ea typeface="Poppins" pitchFamily="34" charset="-122"/>
                <a:cs typeface="Poppins" pitchFamily="34" charset="-120"/>
              </a:rPr>
              <a:t>“is the data fresh?”</a:t>
            </a:r>
            <a:r>
              <a:rPr lang="en-US" sz="1250" dirty="0">
                <a:solidFill>
                  <a:srgbClr val="C9BEB8"/>
                </a:solidFill>
                <a:latin typeface="Poppins" pitchFamily="34" charset="0"/>
                <a:ea typeface="Poppins" pitchFamily="34" charset="-122"/>
                <a:cs typeface="Poppins" pitchFamily="34" charset="-120"/>
              </a:rPr>
              <a:t>   None of them open psql. And none of them know that replication-slot lag is the metric that matters.</a:t>
            </a:r>
            <a:endParaRPr lang="en-US" sz="1250" dirty="0"/>
          </a:p>
        </p:txBody>
      </p:sp>
      <p:sp>
        <p:nvSpPr>
          <p:cNvPr id="9" name="Shape 6"/>
          <p:cNvSpPr/>
          <p:nvPr/>
        </p:nvSpPr>
        <p:spPr>
          <a:xfrm>
            <a:off x="6324448" y="2971800"/>
            <a:ext cx="5181448" cy="3063240"/>
          </a:xfrm>
          <a:prstGeom prst="roundRect">
            <a:avLst>
              <a:gd name="adj" fmla="val 4776"/>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0" name="Shape 7"/>
          <p:cNvSpPr/>
          <p:nvPr/>
        </p:nvSpPr>
        <p:spPr>
          <a:xfrm>
            <a:off x="6781648" y="3429000"/>
            <a:ext cx="566928" cy="566928"/>
          </a:xfrm>
          <a:prstGeom prst="ellipse">
            <a:avLst/>
          </a:prstGeom>
          <a:solidFill>
            <a:srgbClr val="E74A0A"/>
          </a:solidFill>
          <a:ln/>
        </p:spPr>
        <p:txBody>
          <a:bodyPr/>
          <a:lstStyle/>
          <a:p>
            <a:endParaRPr lang="en-US"/>
          </a:p>
        </p:txBody>
      </p:sp>
      <p:pic>
        <p:nvPicPr>
          <p:cNvPr id="11" name="Image 1" descr="/home/claude/deck/assets/icons/eye_white.png"/>
          <p:cNvPicPr>
            <a:picLocks noChangeAspect="1"/>
          </p:cNvPicPr>
          <p:nvPr/>
        </p:nvPicPr>
        <p:blipFill>
          <a:blip r:embed="rId5"/>
          <a:stretch>
            <a:fillRect/>
          </a:stretch>
        </p:blipFill>
        <p:spPr>
          <a:xfrm>
            <a:off x="6917710" y="3565063"/>
            <a:ext cx="294803" cy="294803"/>
          </a:xfrm>
          <a:prstGeom prst="rect">
            <a:avLst/>
          </a:prstGeom>
        </p:spPr>
      </p:pic>
      <p:sp>
        <p:nvSpPr>
          <p:cNvPr id="12" name="Text 8"/>
          <p:cNvSpPr/>
          <p:nvPr/>
        </p:nvSpPr>
        <p:spPr>
          <a:xfrm>
            <a:off x="6781648" y="4160520"/>
            <a:ext cx="4267048" cy="457200"/>
          </a:xfrm>
          <a:prstGeom prst="rect">
            <a:avLst/>
          </a:prstGeom>
          <a:noFill/>
          <a:ln/>
        </p:spPr>
        <p:txBody>
          <a:bodyPr wrap="square" lIns="0" tIns="0" rIns="0" bIns="0" rtlCol="0" anchor="ctr"/>
          <a:lstStyle/>
          <a:p>
            <a:pPr marL="0" indent="0">
              <a:buNone/>
            </a:pPr>
            <a:r>
              <a:rPr lang="en-US" sz="2000" dirty="0">
                <a:solidFill>
                  <a:srgbClr val="212121"/>
                </a:solidFill>
                <a:latin typeface="Poppins Medium" pitchFamily="34" charset="0"/>
                <a:ea typeface="Poppins Medium" pitchFamily="34" charset="-122"/>
                <a:cs typeface="Poppins Medium" pitchFamily="34" charset="-120"/>
              </a:rPr>
              <a:t>Why dashboards don't close it</a:t>
            </a:r>
            <a:endParaRPr lang="en-US" sz="2000" dirty="0"/>
          </a:p>
        </p:txBody>
      </p:sp>
      <p:sp>
        <p:nvSpPr>
          <p:cNvPr id="13" name="Text 9"/>
          <p:cNvSpPr/>
          <p:nvPr/>
        </p:nvSpPr>
        <p:spPr>
          <a:xfrm>
            <a:off x="6781648" y="4727448"/>
            <a:ext cx="4267048" cy="1188720"/>
          </a:xfrm>
          <a:prstGeom prst="rect">
            <a:avLst/>
          </a:prstGeom>
          <a:noFill/>
          <a:ln/>
        </p:spPr>
        <p:txBody>
          <a:bodyPr wrap="square" lIns="0" tIns="0" rIns="0" bIns="0" rtlCol="0" anchor="t"/>
          <a:lstStyle/>
          <a:p>
            <a:pPr marL="0" indent="0">
              <a:lnSpc>
                <a:spcPct val="134000"/>
              </a:lnSpc>
              <a:buNone/>
            </a:pPr>
            <a:r>
              <a:rPr lang="en-US" sz="1250" dirty="0">
                <a:solidFill>
                  <a:srgbClr val="212121"/>
                </a:solidFill>
                <a:latin typeface="Poppins" pitchFamily="34" charset="0"/>
                <a:ea typeface="Poppins" pitchFamily="34" charset="-122"/>
                <a:cs typeface="Poppins" pitchFamily="34" charset="-120"/>
              </a:rPr>
              <a:t>They're passive. A dashboard shows a lag number only if you already know to go look. </a:t>
            </a:r>
            <a:r>
              <a:rPr lang="en-US" sz="1250" dirty="0">
                <a:solidFill>
                  <a:srgbClr val="8A7D78"/>
                </a:solidFill>
                <a:latin typeface="Poppins" pitchFamily="34" charset="0"/>
                <a:ea typeface="Poppins" pitchFamily="34" charset="-122"/>
                <a:cs typeface="Poppins" pitchFamily="34" charset="-120"/>
              </a:rPr>
              <a:t>And it can't tell you what changed, or why the lag is climbing. Those are the two things you actually need to act.</a:t>
            </a:r>
            <a:endParaRPr lang="en-US" sz="1250" dirty="0"/>
          </a:p>
        </p:txBody>
      </p:sp>
      <p:pic>
        <p:nvPicPr>
          <p:cNvPr id="14" name="Image 2" descr="/home/claude/deck/assets/logomark_hi.png"/>
          <p:cNvPicPr>
            <a:picLocks noChangeAspect="1"/>
          </p:cNvPicPr>
          <p:nvPr/>
        </p:nvPicPr>
        <p:blipFill>
          <a:blip r:embed="rId6"/>
          <a:stretch>
            <a:fillRect/>
          </a:stretch>
        </p:blipFill>
        <p:spPr>
          <a:xfrm>
            <a:off x="685800" y="6419088"/>
            <a:ext cx="201168" cy="201168"/>
          </a:xfrm>
          <a:prstGeom prst="rect">
            <a:avLst/>
          </a:prstGeom>
        </p:spPr>
      </p:pic>
      <p:sp>
        <p:nvSpPr>
          <p:cNvPr id="15" name="Text 10"/>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8A7D78"/>
                </a:solidFill>
                <a:latin typeface="Poppins Medium" pitchFamily="34" charset="0"/>
                <a:ea typeface="Poppins Medium" pitchFamily="34" charset="-122"/>
                <a:cs typeface="Poppins Medium" pitchFamily="34" charset="-120"/>
              </a:rPr>
              <a:t>MoolAI  ×  Striim</a:t>
            </a:r>
            <a:endParaRPr lang="en-US" sz="850" dirty="0"/>
          </a:p>
        </p:txBody>
      </p:sp>
      <p:sp>
        <p:nvSpPr>
          <p:cNvPr id="16" name="Text 11"/>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8A7D78"/>
                </a:solidFill>
                <a:latin typeface="Poppins" pitchFamily="34" charset="0"/>
                <a:ea typeface="Poppins" pitchFamily="34" charset="-122"/>
                <a:cs typeface="Poppins" pitchFamily="34" charset="-120"/>
              </a:rPr>
              <a:t>03 / 10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lgn="l">
              <a:buNone/>
            </a:pPr>
            <a:r>
              <a:rPr lang="en-US" sz="1150" kern="0" spc="300" dirty="0">
                <a:solidFill>
                  <a:srgbClr val="E74A0A"/>
                </a:solidFill>
                <a:latin typeface="Poppins Medium" pitchFamily="34" charset="0"/>
                <a:ea typeface="Poppins Medium" pitchFamily="34" charset="-122"/>
                <a:cs typeface="Poppins Medium" pitchFamily="34" charset="-120"/>
              </a:rPr>
              <a:t>THE SOLUTION</a:t>
            </a:r>
            <a:endParaRPr lang="en-US" sz="1150" dirty="0"/>
          </a:p>
        </p:txBody>
      </p:sp>
      <p:sp>
        <p:nvSpPr>
          <p:cNvPr id="3" name="Text 1"/>
          <p:cNvSpPr/>
          <p:nvPr/>
        </p:nvSpPr>
        <p:spPr>
          <a:xfrm>
            <a:off x="685800" y="1024128"/>
            <a:ext cx="10698480" cy="1463040"/>
          </a:xfrm>
          <a:prstGeom prst="rect">
            <a:avLst/>
          </a:prstGeom>
          <a:noFill/>
          <a:ln/>
        </p:spPr>
        <p:txBody>
          <a:bodyPr wrap="square" lIns="0" tIns="0" rIns="0" bIns="0" rtlCol="0" anchor="t"/>
          <a:lstStyle/>
          <a:p>
            <a:pPr marL="0" indent="0" algn="l">
              <a:lnSpc>
                <a:spcPct val="108000"/>
              </a:lnSpc>
              <a:buNone/>
            </a:pPr>
            <a:r>
              <a:rPr lang="en-US" sz="3200" kern="0" spc="-30" dirty="0">
                <a:solidFill>
                  <a:srgbClr val="212121"/>
                </a:solidFill>
                <a:latin typeface="Poppins" pitchFamily="34" charset="0"/>
                <a:ea typeface="Poppins" pitchFamily="34" charset="-122"/>
                <a:cs typeface="Poppins" pitchFamily="34" charset="-120"/>
              </a:rPr>
              <a:t>A governed agent you ask in </a:t>
            </a:r>
            <a:r>
              <a:rPr lang="en-US" sz="3200" kern="0" spc="-30" dirty="0">
                <a:solidFill>
                  <a:srgbClr val="E74A0A"/>
                </a:solidFill>
                <a:latin typeface="Poppins" pitchFamily="34" charset="0"/>
                <a:ea typeface="Poppins" pitchFamily="34" charset="-122"/>
                <a:cs typeface="Poppins" pitchFamily="34" charset="-120"/>
              </a:rPr>
              <a:t>plain English</a:t>
            </a:r>
            <a:r>
              <a:rPr lang="en-US" sz="3200" kern="0" spc="-30" dirty="0">
                <a:solidFill>
                  <a:srgbClr val="212121"/>
                </a:solidFill>
                <a:latin typeface="Poppins" pitchFamily="34" charset="0"/>
                <a:ea typeface="Poppins" pitchFamily="34" charset="-122"/>
                <a:cs typeface="Poppins" pitchFamily="34" charset="-120"/>
              </a:rPr>
              <a:t>. The answers come from </a:t>
            </a:r>
            <a:r>
              <a:rPr lang="en-US" sz="3200" kern="0" spc="-30" dirty="0">
                <a:solidFill>
                  <a:srgbClr val="E74A0A"/>
                </a:solidFill>
                <a:latin typeface="Poppins" pitchFamily="34" charset="0"/>
                <a:ea typeface="Poppins" pitchFamily="34" charset="-122"/>
                <a:cs typeface="Poppins" pitchFamily="34" charset="-120"/>
              </a:rPr>
              <a:t>real queries</a:t>
            </a:r>
            <a:r>
              <a:rPr lang="en-US" sz="3200" kern="0" spc="-30" dirty="0">
                <a:solidFill>
                  <a:srgbClr val="212121"/>
                </a:solidFill>
                <a:latin typeface="Poppins" pitchFamily="34" charset="0"/>
                <a:ea typeface="Poppins" pitchFamily="34" charset="-122"/>
                <a:cs typeface="Poppins" pitchFamily="34" charset="-120"/>
              </a:rPr>
              <a:t>. Nothing is mocked.</a:t>
            </a:r>
            <a:endParaRPr lang="en-US" sz="3200" dirty="0"/>
          </a:p>
        </p:txBody>
      </p:sp>
      <p:sp>
        <p:nvSpPr>
          <p:cNvPr id="4" name="Shape 2"/>
          <p:cNvSpPr/>
          <p:nvPr/>
        </p:nvSpPr>
        <p:spPr>
          <a:xfrm>
            <a:off x="685800" y="2926080"/>
            <a:ext cx="3362858" cy="3108960"/>
          </a:xfrm>
          <a:prstGeom prst="roundRect">
            <a:avLst>
              <a:gd name="adj" fmla="val 4706"/>
            </a:avLst>
          </a:prstGeom>
          <a:solidFill>
            <a:srgbClr val="212121"/>
          </a:solidFill>
          <a:ln/>
          <a:effectLst>
            <a:outerShdw blurRad="127000" dist="50800" dir="5400000" algn="bl" rotWithShape="0">
              <a:srgbClr val="C9BEB8">
                <a:alpha val="28000"/>
              </a:srgbClr>
            </a:outerShdw>
          </a:effectLst>
        </p:spPr>
        <p:txBody>
          <a:bodyPr/>
          <a:lstStyle/>
          <a:p>
            <a:endParaRPr lang="en-US"/>
          </a:p>
        </p:txBody>
      </p:sp>
      <p:sp>
        <p:nvSpPr>
          <p:cNvPr id="5" name="Shape 3"/>
          <p:cNvSpPr/>
          <p:nvPr/>
        </p:nvSpPr>
        <p:spPr>
          <a:xfrm>
            <a:off x="1069848" y="3310128"/>
            <a:ext cx="530352" cy="530352"/>
          </a:xfrm>
          <a:prstGeom prst="ellipse">
            <a:avLst/>
          </a:prstGeom>
          <a:solidFill>
            <a:srgbClr val="EEA53A"/>
          </a:solidFill>
          <a:ln/>
        </p:spPr>
        <p:txBody>
          <a:bodyPr/>
          <a:lstStyle/>
          <a:p>
            <a:endParaRPr lang="en-US"/>
          </a:p>
        </p:txBody>
      </p:sp>
      <p:pic>
        <p:nvPicPr>
          <p:cNvPr id="6" name="Image 0" descr="/home/claude/deck/assets/icons/ask_ink.png"/>
          <p:cNvPicPr>
            <a:picLocks noChangeAspect="1"/>
          </p:cNvPicPr>
          <p:nvPr/>
        </p:nvPicPr>
        <p:blipFill>
          <a:blip r:embed="rId4"/>
          <a:stretch>
            <a:fillRect/>
          </a:stretch>
        </p:blipFill>
        <p:spPr>
          <a:xfrm>
            <a:off x="1197132" y="3437412"/>
            <a:ext cx="275783" cy="275783"/>
          </a:xfrm>
          <a:prstGeom prst="rect">
            <a:avLst/>
          </a:prstGeom>
        </p:spPr>
      </p:pic>
      <p:sp>
        <p:nvSpPr>
          <p:cNvPr id="7" name="Text 4"/>
          <p:cNvSpPr/>
          <p:nvPr/>
        </p:nvSpPr>
        <p:spPr>
          <a:xfrm>
            <a:off x="1069848" y="3977640"/>
            <a:ext cx="2594762" cy="685800"/>
          </a:xfrm>
          <a:prstGeom prst="rect">
            <a:avLst/>
          </a:prstGeom>
          <a:noFill/>
          <a:ln/>
        </p:spPr>
        <p:txBody>
          <a:bodyPr wrap="square" lIns="0" tIns="0" rIns="0" bIns="0" rtlCol="0" anchor="t"/>
          <a:lstStyle/>
          <a:p>
            <a:pPr marL="0" indent="0">
              <a:lnSpc>
                <a:spcPct val="100000"/>
              </a:lnSpc>
              <a:buNone/>
            </a:pPr>
            <a:r>
              <a:rPr lang="en-US" sz="1800" dirty="0">
                <a:solidFill>
                  <a:srgbClr val="FFFFFF"/>
                </a:solidFill>
                <a:latin typeface="Poppins Medium" pitchFamily="34" charset="0"/>
                <a:ea typeface="Poppins Medium" pitchFamily="34" charset="-122"/>
                <a:cs typeface="Poppins Medium" pitchFamily="34" charset="-120"/>
              </a:rPr>
              <a:t>Ask in Slack</a:t>
            </a:r>
            <a:endParaRPr lang="en-US" sz="1800" dirty="0"/>
          </a:p>
        </p:txBody>
      </p:sp>
      <p:sp>
        <p:nvSpPr>
          <p:cNvPr id="8" name="Text 5"/>
          <p:cNvSpPr/>
          <p:nvPr/>
        </p:nvSpPr>
        <p:spPr>
          <a:xfrm>
            <a:off x="1069848" y="4709160"/>
            <a:ext cx="2594762" cy="1188720"/>
          </a:xfrm>
          <a:prstGeom prst="rect">
            <a:avLst/>
          </a:prstGeom>
          <a:noFill/>
          <a:ln/>
        </p:spPr>
        <p:txBody>
          <a:bodyPr wrap="square" lIns="0" tIns="0" rIns="0" bIns="0" rtlCol="0" anchor="t"/>
          <a:lstStyle/>
          <a:p>
            <a:pPr marL="0" indent="0">
              <a:lnSpc>
                <a:spcPct val="130000"/>
              </a:lnSpc>
              <a:buNone/>
            </a:pPr>
            <a:r>
              <a:rPr lang="en-US" sz="1200" dirty="0">
                <a:solidFill>
                  <a:srgbClr val="F4D9C6"/>
                </a:solidFill>
                <a:latin typeface="Poppins" pitchFamily="34" charset="0"/>
                <a:ea typeface="Poppins" pitchFamily="34" charset="-122"/>
                <a:cs typeface="Poppins" pitchFamily="34" charset="-120"/>
              </a:rPr>
              <a:t>@mention it or DM it in plain English. Pipeline health, recent changes, lag, row counts. No dashboard, no psql.</a:t>
            </a:r>
            <a:endParaRPr lang="en-US" sz="1200" dirty="0"/>
          </a:p>
        </p:txBody>
      </p:sp>
      <p:sp>
        <p:nvSpPr>
          <p:cNvPr id="9" name="Shape 6"/>
          <p:cNvSpPr/>
          <p:nvPr/>
        </p:nvSpPr>
        <p:spPr>
          <a:xfrm>
            <a:off x="4414418" y="2926080"/>
            <a:ext cx="3362858" cy="3108960"/>
          </a:xfrm>
          <a:prstGeom prst="roundRect">
            <a:avLst>
              <a:gd name="adj" fmla="val 4706"/>
            </a:avLst>
          </a:prstGeom>
          <a:solidFill>
            <a:srgbClr val="E74A0A"/>
          </a:solidFill>
          <a:ln/>
          <a:effectLst>
            <a:outerShdw blurRad="127000" dist="50800" dir="5400000" algn="bl" rotWithShape="0">
              <a:srgbClr val="C9BEB8">
                <a:alpha val="28000"/>
              </a:srgbClr>
            </a:outerShdw>
          </a:effectLst>
        </p:spPr>
        <p:txBody>
          <a:bodyPr/>
          <a:lstStyle/>
          <a:p>
            <a:endParaRPr lang="en-US"/>
          </a:p>
        </p:txBody>
      </p:sp>
      <p:sp>
        <p:nvSpPr>
          <p:cNvPr id="10" name="Shape 7"/>
          <p:cNvSpPr/>
          <p:nvPr/>
        </p:nvSpPr>
        <p:spPr>
          <a:xfrm>
            <a:off x="4798466" y="3310128"/>
            <a:ext cx="530352" cy="530352"/>
          </a:xfrm>
          <a:prstGeom prst="ellipse">
            <a:avLst/>
          </a:prstGeom>
          <a:solidFill>
            <a:srgbClr val="FFFFFF"/>
          </a:solidFill>
          <a:ln/>
        </p:spPr>
        <p:txBody>
          <a:bodyPr/>
          <a:lstStyle/>
          <a:p>
            <a:endParaRPr lang="en-US"/>
          </a:p>
        </p:txBody>
      </p:sp>
      <p:pic>
        <p:nvPicPr>
          <p:cNvPr id="11" name="Image 1" descr="/home/claude/deck/assets/icons/db_orange.png"/>
          <p:cNvPicPr>
            <a:picLocks noChangeAspect="1"/>
          </p:cNvPicPr>
          <p:nvPr/>
        </p:nvPicPr>
        <p:blipFill>
          <a:blip r:embed="rId5"/>
          <a:stretch>
            <a:fillRect/>
          </a:stretch>
        </p:blipFill>
        <p:spPr>
          <a:xfrm>
            <a:off x="4925751" y="3437412"/>
            <a:ext cx="275783" cy="275783"/>
          </a:xfrm>
          <a:prstGeom prst="rect">
            <a:avLst/>
          </a:prstGeom>
        </p:spPr>
      </p:pic>
      <p:sp>
        <p:nvSpPr>
          <p:cNvPr id="12" name="Text 8"/>
          <p:cNvSpPr/>
          <p:nvPr/>
        </p:nvSpPr>
        <p:spPr>
          <a:xfrm>
            <a:off x="4798466" y="3977640"/>
            <a:ext cx="2594762" cy="685800"/>
          </a:xfrm>
          <a:prstGeom prst="rect">
            <a:avLst/>
          </a:prstGeom>
          <a:noFill/>
          <a:ln/>
        </p:spPr>
        <p:txBody>
          <a:bodyPr wrap="square" lIns="0" tIns="0" rIns="0" bIns="0" rtlCol="0" anchor="t"/>
          <a:lstStyle/>
          <a:p>
            <a:pPr marL="0" indent="0">
              <a:lnSpc>
                <a:spcPct val="100000"/>
              </a:lnSpc>
              <a:buNone/>
            </a:pPr>
            <a:r>
              <a:rPr lang="en-US" sz="1800" dirty="0">
                <a:solidFill>
                  <a:srgbClr val="FFFFFF"/>
                </a:solidFill>
                <a:latin typeface="Poppins Medium" pitchFamily="34" charset="0"/>
                <a:ea typeface="Poppins Medium" pitchFamily="34" charset="-122"/>
                <a:cs typeface="Poppins Medium" pitchFamily="34" charset="-120"/>
              </a:rPr>
              <a:t>Real queries,</a:t>
            </a:r>
            <a:endParaRPr lang="en-US" sz="1800" dirty="0"/>
          </a:p>
          <a:p>
            <a:pPr marL="0" indent="0">
              <a:lnSpc>
                <a:spcPct val="100000"/>
              </a:lnSpc>
              <a:buNone/>
            </a:pPr>
            <a:r>
              <a:rPr lang="en-US" sz="1800" dirty="0">
                <a:solidFill>
                  <a:srgbClr val="FFFFFF"/>
                </a:solidFill>
                <a:latin typeface="Poppins Medium" pitchFamily="34" charset="0"/>
                <a:ea typeface="Poppins Medium" pitchFamily="34" charset="-122"/>
                <a:cs typeface="Poppins Medium" pitchFamily="34" charset="-120"/>
              </a:rPr>
              <a:t>never guesses</a:t>
            </a:r>
            <a:endParaRPr lang="en-US" sz="1800" dirty="0"/>
          </a:p>
        </p:txBody>
      </p:sp>
      <p:sp>
        <p:nvSpPr>
          <p:cNvPr id="13" name="Text 9"/>
          <p:cNvSpPr/>
          <p:nvPr/>
        </p:nvSpPr>
        <p:spPr>
          <a:xfrm>
            <a:off x="4798466" y="4709160"/>
            <a:ext cx="2594762" cy="1188720"/>
          </a:xfrm>
          <a:prstGeom prst="rect">
            <a:avLst/>
          </a:prstGeom>
          <a:noFill/>
          <a:ln/>
        </p:spPr>
        <p:txBody>
          <a:bodyPr wrap="square" lIns="0" tIns="0" rIns="0" bIns="0" rtlCol="0" anchor="t"/>
          <a:lstStyle/>
          <a:p>
            <a:pPr marL="0" indent="0">
              <a:lnSpc>
                <a:spcPct val="130000"/>
              </a:lnSpc>
              <a:buNone/>
            </a:pPr>
            <a:r>
              <a:rPr lang="en-US" sz="1200" dirty="0">
                <a:solidFill>
                  <a:srgbClr val="FFFFFF"/>
                </a:solidFill>
                <a:latin typeface="Poppins" pitchFamily="34" charset="0"/>
                <a:ea typeface="Poppins" pitchFamily="34" charset="-122"/>
                <a:cs typeface="Poppins" pitchFamily="34" charset="-120"/>
              </a:rPr>
              <a:t>The model picks one fixed read-only tool. It runs real SQL, or reads real WAL. Every number traces to a result.</a:t>
            </a:r>
            <a:endParaRPr lang="en-US" sz="1200" dirty="0"/>
          </a:p>
        </p:txBody>
      </p:sp>
      <p:sp>
        <p:nvSpPr>
          <p:cNvPr id="14" name="Shape 10"/>
          <p:cNvSpPr/>
          <p:nvPr/>
        </p:nvSpPr>
        <p:spPr>
          <a:xfrm>
            <a:off x="8143037" y="2926080"/>
            <a:ext cx="3362858" cy="3108960"/>
          </a:xfrm>
          <a:prstGeom prst="roundRect">
            <a:avLst>
              <a:gd name="adj" fmla="val 4706"/>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5" name="Shape 11"/>
          <p:cNvSpPr/>
          <p:nvPr/>
        </p:nvSpPr>
        <p:spPr>
          <a:xfrm>
            <a:off x="8527085" y="3310128"/>
            <a:ext cx="530352" cy="530352"/>
          </a:xfrm>
          <a:prstGeom prst="ellipse">
            <a:avLst/>
          </a:prstGeom>
          <a:solidFill>
            <a:srgbClr val="E74A0A"/>
          </a:solidFill>
          <a:ln/>
        </p:spPr>
        <p:txBody>
          <a:bodyPr/>
          <a:lstStyle/>
          <a:p>
            <a:endParaRPr lang="en-US"/>
          </a:p>
        </p:txBody>
      </p:sp>
      <p:pic>
        <p:nvPicPr>
          <p:cNvPr id="16" name="Image 2" descr="/home/claude/deck/assets/icons/shield_white.png"/>
          <p:cNvPicPr>
            <a:picLocks noChangeAspect="1"/>
          </p:cNvPicPr>
          <p:nvPr/>
        </p:nvPicPr>
        <p:blipFill>
          <a:blip r:embed="rId6"/>
          <a:stretch>
            <a:fillRect/>
          </a:stretch>
        </p:blipFill>
        <p:spPr>
          <a:xfrm>
            <a:off x="8654369" y="3437412"/>
            <a:ext cx="275783" cy="275783"/>
          </a:xfrm>
          <a:prstGeom prst="rect">
            <a:avLst/>
          </a:prstGeom>
        </p:spPr>
      </p:pic>
      <p:sp>
        <p:nvSpPr>
          <p:cNvPr id="17" name="Text 12"/>
          <p:cNvSpPr/>
          <p:nvPr/>
        </p:nvSpPr>
        <p:spPr>
          <a:xfrm>
            <a:off x="8527085" y="3977640"/>
            <a:ext cx="2594762" cy="685800"/>
          </a:xfrm>
          <a:prstGeom prst="rect">
            <a:avLst/>
          </a:prstGeom>
          <a:noFill/>
          <a:ln/>
        </p:spPr>
        <p:txBody>
          <a:bodyPr wrap="square" lIns="0" tIns="0" rIns="0" bIns="0" rtlCol="0" anchor="t"/>
          <a:lstStyle/>
          <a:p>
            <a:pPr marL="0" indent="0">
              <a:lnSpc>
                <a:spcPct val="100000"/>
              </a:lnSpc>
              <a:buNone/>
            </a:pPr>
            <a:r>
              <a:rPr lang="en-US" sz="1800" dirty="0">
                <a:solidFill>
                  <a:srgbClr val="212121"/>
                </a:solidFill>
                <a:latin typeface="Poppins Medium" pitchFamily="34" charset="0"/>
                <a:ea typeface="Poppins Medium" pitchFamily="34" charset="-122"/>
                <a:cs typeface="Poppins Medium" pitchFamily="34" charset="-120"/>
              </a:rPr>
              <a:t>Safe by design</a:t>
            </a:r>
            <a:endParaRPr lang="en-US" sz="1800" dirty="0"/>
          </a:p>
        </p:txBody>
      </p:sp>
      <p:sp>
        <p:nvSpPr>
          <p:cNvPr id="18" name="Text 13"/>
          <p:cNvSpPr/>
          <p:nvPr/>
        </p:nvSpPr>
        <p:spPr>
          <a:xfrm>
            <a:off x="8527085" y="4709160"/>
            <a:ext cx="2594762" cy="1188720"/>
          </a:xfrm>
          <a:prstGeom prst="rect">
            <a:avLst/>
          </a:prstGeom>
          <a:noFill/>
          <a:ln/>
        </p:spPr>
        <p:txBody>
          <a:bodyPr wrap="square" lIns="0" tIns="0" rIns="0" bIns="0" rtlCol="0" anchor="t"/>
          <a:lstStyle/>
          <a:p>
            <a:pPr marL="0" indent="0">
              <a:lnSpc>
                <a:spcPct val="130000"/>
              </a:lnSpc>
              <a:buNone/>
            </a:pPr>
            <a:r>
              <a:rPr lang="en-US" sz="1200" dirty="0">
                <a:solidFill>
                  <a:srgbClr val="8A7D78"/>
                </a:solidFill>
                <a:latin typeface="Poppins" pitchFamily="34" charset="0"/>
                <a:ea typeface="Poppins" pitchFamily="34" charset="-122"/>
                <a:cs typeface="Poppins" pitchFamily="34" charset="-120"/>
              </a:rPr>
              <a:t>A read-only database role, four fixed tools, and destructive requests refused before the model is ever called.</a:t>
            </a:r>
            <a:endParaRPr lang="en-US" sz="1200" dirty="0"/>
          </a:p>
        </p:txBody>
      </p:sp>
      <p:pic>
        <p:nvPicPr>
          <p:cNvPr id="19" name="Image 3" descr="/home/claude/deck/assets/logomark_hi.png"/>
          <p:cNvPicPr>
            <a:picLocks noChangeAspect="1"/>
          </p:cNvPicPr>
          <p:nvPr/>
        </p:nvPicPr>
        <p:blipFill>
          <a:blip r:embed="rId7"/>
          <a:stretch>
            <a:fillRect/>
          </a:stretch>
        </p:blipFill>
        <p:spPr>
          <a:xfrm>
            <a:off x="685800" y="6419088"/>
            <a:ext cx="201168" cy="201168"/>
          </a:xfrm>
          <a:prstGeom prst="rect">
            <a:avLst/>
          </a:prstGeom>
        </p:spPr>
      </p:pic>
      <p:sp>
        <p:nvSpPr>
          <p:cNvPr id="20" name="Text 14"/>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8A7D78"/>
                </a:solidFill>
                <a:latin typeface="Poppins Medium" pitchFamily="34" charset="0"/>
                <a:ea typeface="Poppins Medium" pitchFamily="34" charset="-122"/>
                <a:cs typeface="Poppins Medium" pitchFamily="34" charset="-120"/>
              </a:rPr>
              <a:t>MoolAI  ×  Striim</a:t>
            </a:r>
            <a:endParaRPr lang="en-US" sz="850" dirty="0"/>
          </a:p>
        </p:txBody>
      </p:sp>
      <p:sp>
        <p:nvSpPr>
          <p:cNvPr id="21" name="Text 15"/>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8A7D78"/>
                </a:solidFill>
                <a:latin typeface="Poppins" pitchFamily="34" charset="0"/>
                <a:ea typeface="Poppins" pitchFamily="34" charset="-122"/>
                <a:cs typeface="Poppins" pitchFamily="34" charset="-120"/>
              </a:rPr>
              <a:t>04 / 10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lgn="l">
              <a:buNone/>
            </a:pPr>
            <a:r>
              <a:rPr lang="en-US" sz="1150" kern="0" spc="300" dirty="0">
                <a:solidFill>
                  <a:srgbClr val="E74A0A"/>
                </a:solidFill>
                <a:latin typeface="Poppins Medium" pitchFamily="34" charset="0"/>
                <a:ea typeface="Poppins Medium" pitchFamily="34" charset="-122"/>
                <a:cs typeface="Poppins Medium" pitchFamily="34" charset="-120"/>
              </a:rPr>
              <a:t>HOW IT WORKS</a:t>
            </a:r>
            <a:endParaRPr lang="en-US" sz="1150" dirty="0"/>
          </a:p>
        </p:txBody>
      </p:sp>
      <p:sp>
        <p:nvSpPr>
          <p:cNvPr id="3" name="Text 1"/>
          <p:cNvSpPr/>
          <p:nvPr/>
        </p:nvSpPr>
        <p:spPr>
          <a:xfrm>
            <a:off x="685800" y="932688"/>
            <a:ext cx="10789920" cy="640080"/>
          </a:xfrm>
          <a:prstGeom prst="rect">
            <a:avLst/>
          </a:prstGeom>
          <a:noFill/>
          <a:ln/>
        </p:spPr>
        <p:txBody>
          <a:bodyPr wrap="square" lIns="0" tIns="0" rIns="0" bIns="0" rtlCol="0" anchor="t"/>
          <a:lstStyle/>
          <a:p>
            <a:pPr marL="0" indent="0" algn="l">
              <a:lnSpc>
                <a:spcPct val="102000"/>
              </a:lnSpc>
              <a:buNone/>
            </a:pPr>
            <a:r>
              <a:rPr lang="en-US" sz="2700" kern="0" spc="-30" dirty="0">
                <a:solidFill>
                  <a:srgbClr val="212121"/>
                </a:solidFill>
                <a:latin typeface="Poppins" pitchFamily="34" charset="0"/>
                <a:ea typeface="Poppins" pitchFamily="34" charset="-122"/>
                <a:cs typeface="Poppins" pitchFamily="34" charset="-120"/>
              </a:rPr>
              <a:t>One governed path from question to answer</a:t>
            </a:r>
            <a:endParaRPr lang="en-US" sz="2700" dirty="0"/>
          </a:p>
        </p:txBody>
      </p:sp>
      <p:sp>
        <p:nvSpPr>
          <p:cNvPr id="4" name="Text 2"/>
          <p:cNvSpPr/>
          <p:nvPr/>
        </p:nvSpPr>
        <p:spPr>
          <a:xfrm>
            <a:off x="685800" y="1572768"/>
            <a:ext cx="10607040" cy="1371600"/>
          </a:xfrm>
          <a:prstGeom prst="rect">
            <a:avLst/>
          </a:prstGeom>
          <a:noFill/>
          <a:ln/>
        </p:spPr>
        <p:txBody>
          <a:bodyPr wrap="square" lIns="0" tIns="0" rIns="0" bIns="0" rtlCol="0" anchor="t"/>
          <a:lstStyle/>
          <a:p>
            <a:pPr marL="0" indent="0" algn="l">
              <a:lnSpc>
                <a:spcPct val="125000"/>
              </a:lnSpc>
              <a:buNone/>
            </a:pPr>
            <a:r>
              <a:rPr lang="en-US" sz="1350" dirty="0">
                <a:solidFill>
                  <a:srgbClr val="8A7D78"/>
                </a:solidFill>
                <a:latin typeface="Poppins" pitchFamily="34" charset="0"/>
                <a:ea typeface="Poppins" pitchFamily="34" charset="-122"/>
                <a:cs typeface="Poppins" pitchFamily="34" charset="-120"/>
              </a:rPr>
              <a:t>Slack → LLM tool-calling → four read-only tools → PostgreSQL. The model never touches the database. It only ever sees tool results.</a:t>
            </a:r>
            <a:endParaRPr lang="en-US" sz="1350" dirty="0"/>
          </a:p>
        </p:txBody>
      </p:sp>
      <p:sp>
        <p:nvSpPr>
          <p:cNvPr id="5" name="Shape 3"/>
          <p:cNvSpPr/>
          <p:nvPr/>
        </p:nvSpPr>
        <p:spPr>
          <a:xfrm>
            <a:off x="685800" y="2377440"/>
            <a:ext cx="1828800" cy="1234440"/>
          </a:xfrm>
          <a:prstGeom prst="roundRect">
            <a:avLst>
              <a:gd name="adj" fmla="val 9630"/>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6" name="Shape 4"/>
          <p:cNvSpPr/>
          <p:nvPr/>
        </p:nvSpPr>
        <p:spPr>
          <a:xfrm>
            <a:off x="905256" y="2596896"/>
            <a:ext cx="457200" cy="457200"/>
          </a:xfrm>
          <a:prstGeom prst="ellipse">
            <a:avLst/>
          </a:prstGeom>
          <a:solidFill>
            <a:srgbClr val="FAE2D3"/>
          </a:solidFill>
          <a:ln/>
        </p:spPr>
        <p:txBody>
          <a:bodyPr/>
          <a:lstStyle/>
          <a:p>
            <a:endParaRPr lang="en-US"/>
          </a:p>
        </p:txBody>
      </p:sp>
      <p:pic>
        <p:nvPicPr>
          <p:cNvPr id="7" name="Image 0" descr="/home/claude/deck/assets/icons/ask_orange.png"/>
          <p:cNvPicPr>
            <a:picLocks noChangeAspect="1"/>
          </p:cNvPicPr>
          <p:nvPr/>
        </p:nvPicPr>
        <p:blipFill>
          <a:blip r:embed="rId4"/>
          <a:stretch>
            <a:fillRect/>
          </a:stretch>
        </p:blipFill>
        <p:spPr>
          <a:xfrm>
            <a:off x="1014984" y="2706624"/>
            <a:ext cx="237744" cy="237744"/>
          </a:xfrm>
          <a:prstGeom prst="rect">
            <a:avLst/>
          </a:prstGeom>
        </p:spPr>
      </p:pic>
      <p:sp>
        <p:nvSpPr>
          <p:cNvPr id="8" name="Text 5"/>
          <p:cNvSpPr/>
          <p:nvPr/>
        </p:nvSpPr>
        <p:spPr>
          <a:xfrm>
            <a:off x="1472184" y="2596896"/>
            <a:ext cx="914400" cy="457200"/>
          </a:xfrm>
          <a:prstGeom prst="rect">
            <a:avLst/>
          </a:prstGeom>
          <a:noFill/>
          <a:ln/>
        </p:spPr>
        <p:txBody>
          <a:bodyPr wrap="square" lIns="0" tIns="0" rIns="0" bIns="0" rtlCol="0" anchor="ctr"/>
          <a:lstStyle/>
          <a:p>
            <a:pPr marL="0" indent="0">
              <a:buNone/>
            </a:pPr>
            <a:r>
              <a:rPr lang="en-US" sz="1500" dirty="0">
                <a:solidFill>
                  <a:srgbClr val="212121"/>
                </a:solidFill>
                <a:latin typeface="Poppins Medium" pitchFamily="34" charset="0"/>
                <a:ea typeface="Poppins Medium" pitchFamily="34" charset="-122"/>
                <a:cs typeface="Poppins Medium" pitchFamily="34" charset="-120"/>
              </a:rPr>
              <a:t>Slack</a:t>
            </a:r>
            <a:endParaRPr lang="en-US" sz="1500" dirty="0"/>
          </a:p>
        </p:txBody>
      </p:sp>
      <p:sp>
        <p:nvSpPr>
          <p:cNvPr id="9" name="Text 6"/>
          <p:cNvSpPr/>
          <p:nvPr/>
        </p:nvSpPr>
        <p:spPr>
          <a:xfrm>
            <a:off x="941832" y="3163824"/>
            <a:ext cx="1371600" cy="320040"/>
          </a:xfrm>
          <a:prstGeom prst="rect">
            <a:avLst/>
          </a:prstGeom>
          <a:noFill/>
          <a:ln/>
        </p:spPr>
        <p:txBody>
          <a:bodyPr wrap="square" lIns="0" tIns="0" rIns="0" bIns="0" rtlCol="0" anchor="ctr"/>
          <a:lstStyle/>
          <a:p>
            <a:pPr marL="0" indent="0">
              <a:buNone/>
            </a:pPr>
            <a:r>
              <a:rPr lang="en-US" sz="1050" dirty="0">
                <a:solidFill>
                  <a:srgbClr val="8A7D78"/>
                </a:solidFill>
                <a:latin typeface="Poppins" pitchFamily="34" charset="0"/>
                <a:ea typeface="Poppins" pitchFamily="34" charset="-122"/>
                <a:cs typeface="Poppins" pitchFamily="34" charset="-120"/>
              </a:rPr>
              <a:t>@mention · DM</a:t>
            </a:r>
            <a:endParaRPr lang="en-US" sz="1050" dirty="0"/>
          </a:p>
        </p:txBody>
      </p:sp>
      <p:sp>
        <p:nvSpPr>
          <p:cNvPr id="10" name="Shape 7"/>
          <p:cNvSpPr/>
          <p:nvPr/>
        </p:nvSpPr>
        <p:spPr>
          <a:xfrm>
            <a:off x="2788920" y="2377440"/>
            <a:ext cx="2194560" cy="1234440"/>
          </a:xfrm>
          <a:prstGeom prst="roundRect">
            <a:avLst>
              <a:gd name="adj" fmla="val 9630"/>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1" name="Shape 8"/>
          <p:cNvSpPr/>
          <p:nvPr/>
        </p:nvSpPr>
        <p:spPr>
          <a:xfrm>
            <a:off x="3008376" y="2596896"/>
            <a:ext cx="457200" cy="457200"/>
          </a:xfrm>
          <a:prstGeom prst="ellipse">
            <a:avLst/>
          </a:prstGeom>
          <a:solidFill>
            <a:srgbClr val="FAE2D3"/>
          </a:solidFill>
          <a:ln/>
        </p:spPr>
        <p:txBody>
          <a:bodyPr/>
          <a:lstStyle/>
          <a:p>
            <a:endParaRPr lang="en-US"/>
          </a:p>
        </p:txBody>
      </p:sp>
      <p:pic>
        <p:nvPicPr>
          <p:cNvPr id="12" name="Image 1" descr="/home/claude/deck/assets/icons/cpu_orange.png"/>
          <p:cNvPicPr>
            <a:picLocks noChangeAspect="1"/>
          </p:cNvPicPr>
          <p:nvPr/>
        </p:nvPicPr>
        <p:blipFill>
          <a:blip r:embed="rId5"/>
          <a:stretch>
            <a:fillRect/>
          </a:stretch>
        </p:blipFill>
        <p:spPr>
          <a:xfrm>
            <a:off x="3118104" y="2706624"/>
            <a:ext cx="237744" cy="237744"/>
          </a:xfrm>
          <a:prstGeom prst="rect">
            <a:avLst/>
          </a:prstGeom>
        </p:spPr>
      </p:pic>
      <p:sp>
        <p:nvSpPr>
          <p:cNvPr id="13" name="Text 9"/>
          <p:cNvSpPr/>
          <p:nvPr/>
        </p:nvSpPr>
        <p:spPr>
          <a:xfrm>
            <a:off x="3575304" y="2596896"/>
            <a:ext cx="1280160" cy="457200"/>
          </a:xfrm>
          <a:prstGeom prst="rect">
            <a:avLst/>
          </a:prstGeom>
          <a:noFill/>
          <a:ln/>
        </p:spPr>
        <p:txBody>
          <a:bodyPr wrap="square" lIns="0" tIns="0" rIns="0" bIns="0" rtlCol="0" anchor="ctr"/>
          <a:lstStyle/>
          <a:p>
            <a:pPr marL="0" indent="0">
              <a:buNone/>
            </a:pPr>
            <a:r>
              <a:rPr lang="en-US" sz="1500" dirty="0">
                <a:solidFill>
                  <a:srgbClr val="212121"/>
                </a:solidFill>
                <a:latin typeface="Poppins Medium" pitchFamily="34" charset="0"/>
                <a:ea typeface="Poppins Medium" pitchFamily="34" charset="-122"/>
                <a:cs typeface="Poppins Medium" pitchFamily="34" charset="-120"/>
              </a:rPr>
              <a:t>LLM</a:t>
            </a:r>
            <a:endParaRPr lang="en-US" sz="1500" dirty="0"/>
          </a:p>
        </p:txBody>
      </p:sp>
      <p:sp>
        <p:nvSpPr>
          <p:cNvPr id="14" name="Text 10"/>
          <p:cNvSpPr/>
          <p:nvPr/>
        </p:nvSpPr>
        <p:spPr>
          <a:xfrm>
            <a:off x="3044952" y="3163824"/>
            <a:ext cx="1737360" cy="320040"/>
          </a:xfrm>
          <a:prstGeom prst="rect">
            <a:avLst/>
          </a:prstGeom>
          <a:noFill/>
          <a:ln/>
        </p:spPr>
        <p:txBody>
          <a:bodyPr wrap="square" lIns="0" tIns="0" rIns="0" bIns="0" rtlCol="0" anchor="ctr"/>
          <a:lstStyle/>
          <a:p>
            <a:pPr marL="0" indent="0">
              <a:buNone/>
            </a:pPr>
            <a:r>
              <a:rPr lang="en-US" sz="1050" dirty="0">
                <a:solidFill>
                  <a:srgbClr val="8A7D78"/>
                </a:solidFill>
                <a:latin typeface="Poppins" pitchFamily="34" charset="0"/>
                <a:ea typeface="Poppins" pitchFamily="34" charset="-122"/>
                <a:cs typeface="Poppins" pitchFamily="34" charset="-120"/>
              </a:rPr>
              <a:t>tool-calling · temp 0</a:t>
            </a:r>
            <a:endParaRPr lang="en-US" sz="1050" dirty="0"/>
          </a:p>
        </p:txBody>
      </p:sp>
      <p:sp>
        <p:nvSpPr>
          <p:cNvPr id="15" name="Shape 11"/>
          <p:cNvSpPr/>
          <p:nvPr/>
        </p:nvSpPr>
        <p:spPr>
          <a:xfrm>
            <a:off x="5257800" y="2377440"/>
            <a:ext cx="2743200" cy="1234440"/>
          </a:xfrm>
          <a:prstGeom prst="roundRect">
            <a:avLst>
              <a:gd name="adj" fmla="val 9630"/>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6" name="Shape 12"/>
          <p:cNvSpPr/>
          <p:nvPr/>
        </p:nvSpPr>
        <p:spPr>
          <a:xfrm>
            <a:off x="5477256" y="2596896"/>
            <a:ext cx="457200" cy="457200"/>
          </a:xfrm>
          <a:prstGeom prst="ellipse">
            <a:avLst/>
          </a:prstGeom>
          <a:solidFill>
            <a:srgbClr val="FAE2D3"/>
          </a:solidFill>
          <a:ln/>
        </p:spPr>
        <p:txBody>
          <a:bodyPr/>
          <a:lstStyle/>
          <a:p>
            <a:endParaRPr lang="en-US"/>
          </a:p>
        </p:txBody>
      </p:sp>
      <p:pic>
        <p:nvPicPr>
          <p:cNvPr id="17" name="Image 2" descr="/home/claude/deck/assets/icons/layers_orange.png"/>
          <p:cNvPicPr>
            <a:picLocks noChangeAspect="1"/>
          </p:cNvPicPr>
          <p:nvPr/>
        </p:nvPicPr>
        <p:blipFill>
          <a:blip r:embed="rId6"/>
          <a:stretch>
            <a:fillRect/>
          </a:stretch>
        </p:blipFill>
        <p:spPr>
          <a:xfrm>
            <a:off x="5586984" y="2706624"/>
            <a:ext cx="237744" cy="237744"/>
          </a:xfrm>
          <a:prstGeom prst="rect">
            <a:avLst/>
          </a:prstGeom>
        </p:spPr>
      </p:pic>
      <p:sp>
        <p:nvSpPr>
          <p:cNvPr id="18" name="Text 13"/>
          <p:cNvSpPr/>
          <p:nvPr/>
        </p:nvSpPr>
        <p:spPr>
          <a:xfrm>
            <a:off x="6044184" y="2596896"/>
            <a:ext cx="1828800" cy="457200"/>
          </a:xfrm>
          <a:prstGeom prst="rect">
            <a:avLst/>
          </a:prstGeom>
          <a:noFill/>
          <a:ln/>
        </p:spPr>
        <p:txBody>
          <a:bodyPr wrap="square" lIns="0" tIns="0" rIns="0" bIns="0" rtlCol="0" anchor="ctr"/>
          <a:lstStyle/>
          <a:p>
            <a:pPr marL="0" indent="0">
              <a:buNone/>
            </a:pPr>
            <a:r>
              <a:rPr lang="en-US" sz="1500" dirty="0">
                <a:solidFill>
                  <a:srgbClr val="212121"/>
                </a:solidFill>
                <a:latin typeface="Poppins Medium" pitchFamily="34" charset="0"/>
                <a:ea typeface="Poppins Medium" pitchFamily="34" charset="-122"/>
                <a:cs typeface="Poppins Medium" pitchFamily="34" charset="-120"/>
              </a:rPr>
              <a:t>4 read-only tools</a:t>
            </a:r>
            <a:endParaRPr lang="en-US" sz="1500" dirty="0"/>
          </a:p>
        </p:txBody>
      </p:sp>
      <p:sp>
        <p:nvSpPr>
          <p:cNvPr id="19" name="Text 14"/>
          <p:cNvSpPr/>
          <p:nvPr/>
        </p:nvSpPr>
        <p:spPr>
          <a:xfrm>
            <a:off x="5513832" y="3163824"/>
            <a:ext cx="2286000" cy="320040"/>
          </a:xfrm>
          <a:prstGeom prst="rect">
            <a:avLst/>
          </a:prstGeom>
          <a:noFill/>
          <a:ln/>
        </p:spPr>
        <p:txBody>
          <a:bodyPr wrap="square" lIns="0" tIns="0" rIns="0" bIns="0" rtlCol="0" anchor="ctr"/>
          <a:lstStyle/>
          <a:p>
            <a:pPr marL="0" indent="0">
              <a:buNone/>
            </a:pPr>
            <a:r>
              <a:rPr lang="en-US" sz="1050" dirty="0">
                <a:solidFill>
                  <a:srgbClr val="8A7D78"/>
                </a:solidFill>
                <a:latin typeface="Poppins" pitchFamily="34" charset="0"/>
                <a:ea typeface="Poppins" pitchFamily="34" charset="-122"/>
                <a:cs typeface="Poppins" pitchFamily="34" charset="-120"/>
              </a:rPr>
              <a:t>fixed Python functions</a:t>
            </a:r>
            <a:endParaRPr lang="en-US" sz="1050" dirty="0"/>
          </a:p>
        </p:txBody>
      </p:sp>
      <p:sp>
        <p:nvSpPr>
          <p:cNvPr id="20" name="Shape 15"/>
          <p:cNvSpPr/>
          <p:nvPr/>
        </p:nvSpPr>
        <p:spPr>
          <a:xfrm>
            <a:off x="8275320" y="2377440"/>
            <a:ext cx="3246120" cy="1234440"/>
          </a:xfrm>
          <a:prstGeom prst="roundRect">
            <a:avLst>
              <a:gd name="adj" fmla="val 9630"/>
            </a:avLst>
          </a:prstGeom>
          <a:solidFill>
            <a:srgbClr val="212121"/>
          </a:solidFill>
          <a:ln/>
          <a:effectLst>
            <a:outerShdw blurRad="127000" dist="50800" dir="5400000" algn="bl" rotWithShape="0">
              <a:srgbClr val="C9BEB8">
                <a:alpha val="28000"/>
              </a:srgbClr>
            </a:outerShdw>
          </a:effectLst>
        </p:spPr>
        <p:txBody>
          <a:bodyPr/>
          <a:lstStyle/>
          <a:p>
            <a:endParaRPr lang="en-US"/>
          </a:p>
        </p:txBody>
      </p:sp>
      <p:sp>
        <p:nvSpPr>
          <p:cNvPr id="21" name="Shape 16"/>
          <p:cNvSpPr/>
          <p:nvPr/>
        </p:nvSpPr>
        <p:spPr>
          <a:xfrm>
            <a:off x="8494776" y="2596896"/>
            <a:ext cx="457200" cy="457200"/>
          </a:xfrm>
          <a:prstGeom prst="ellipse">
            <a:avLst/>
          </a:prstGeom>
          <a:solidFill>
            <a:srgbClr val="EEA53A"/>
          </a:solidFill>
          <a:ln/>
        </p:spPr>
        <p:txBody>
          <a:bodyPr/>
          <a:lstStyle/>
          <a:p>
            <a:endParaRPr lang="en-US"/>
          </a:p>
        </p:txBody>
      </p:sp>
      <p:pic>
        <p:nvPicPr>
          <p:cNvPr id="22" name="Image 3" descr="/home/claude/deck/assets/icons/db_ink.png"/>
          <p:cNvPicPr>
            <a:picLocks noChangeAspect="1"/>
          </p:cNvPicPr>
          <p:nvPr/>
        </p:nvPicPr>
        <p:blipFill>
          <a:blip r:embed="rId7"/>
          <a:stretch>
            <a:fillRect/>
          </a:stretch>
        </p:blipFill>
        <p:spPr>
          <a:xfrm>
            <a:off x="8604504" y="2706624"/>
            <a:ext cx="237744" cy="237744"/>
          </a:xfrm>
          <a:prstGeom prst="rect">
            <a:avLst/>
          </a:prstGeom>
        </p:spPr>
      </p:pic>
      <p:sp>
        <p:nvSpPr>
          <p:cNvPr id="23" name="Text 17"/>
          <p:cNvSpPr/>
          <p:nvPr/>
        </p:nvSpPr>
        <p:spPr>
          <a:xfrm>
            <a:off x="9061704" y="2596896"/>
            <a:ext cx="2331720" cy="457200"/>
          </a:xfrm>
          <a:prstGeom prst="rect">
            <a:avLst/>
          </a:prstGeom>
          <a:noFill/>
          <a:ln/>
        </p:spPr>
        <p:txBody>
          <a:bodyPr wrap="square" lIns="0" tIns="0" rIns="0" bIns="0" rtlCol="0" anchor="ctr"/>
          <a:lstStyle/>
          <a:p>
            <a:pPr marL="0" indent="0">
              <a:buNone/>
            </a:pPr>
            <a:r>
              <a:rPr lang="en-US" sz="1500" dirty="0">
                <a:solidFill>
                  <a:srgbClr val="FFFFFF"/>
                </a:solidFill>
                <a:latin typeface="Poppins Medium" pitchFamily="34" charset="0"/>
                <a:ea typeface="Poppins Medium" pitchFamily="34" charset="-122"/>
                <a:cs typeface="Poppins Medium" pitchFamily="34" charset="-120"/>
              </a:rPr>
              <a:t>PostgreSQL</a:t>
            </a:r>
            <a:endParaRPr lang="en-US" sz="1500" dirty="0"/>
          </a:p>
        </p:txBody>
      </p:sp>
      <p:sp>
        <p:nvSpPr>
          <p:cNvPr id="24" name="Text 18"/>
          <p:cNvSpPr/>
          <p:nvPr/>
        </p:nvSpPr>
        <p:spPr>
          <a:xfrm>
            <a:off x="8531352" y="3163824"/>
            <a:ext cx="2788920" cy="320040"/>
          </a:xfrm>
          <a:prstGeom prst="rect">
            <a:avLst/>
          </a:prstGeom>
          <a:noFill/>
          <a:ln/>
        </p:spPr>
        <p:txBody>
          <a:bodyPr wrap="square" lIns="0" tIns="0" rIns="0" bIns="0" rtlCol="0" anchor="ctr"/>
          <a:lstStyle/>
          <a:p>
            <a:pPr marL="0" indent="0">
              <a:buNone/>
            </a:pPr>
            <a:r>
              <a:rPr lang="en-US" sz="1050" dirty="0">
                <a:solidFill>
                  <a:srgbClr val="F4D9C6"/>
                </a:solidFill>
                <a:latin typeface="Poppins" pitchFamily="34" charset="0"/>
                <a:ea typeface="Poppins" pitchFamily="34" charset="-122"/>
                <a:cs typeface="Poppins" pitchFamily="34" charset="-120"/>
              </a:rPr>
              <a:t>read-only role · logical WAL</a:t>
            </a:r>
            <a:endParaRPr lang="en-US" sz="1050" dirty="0"/>
          </a:p>
        </p:txBody>
      </p:sp>
      <p:sp>
        <p:nvSpPr>
          <p:cNvPr id="25" name="Shape 19"/>
          <p:cNvSpPr/>
          <p:nvPr/>
        </p:nvSpPr>
        <p:spPr>
          <a:xfrm>
            <a:off x="2532888" y="2994660"/>
            <a:ext cx="237744" cy="0"/>
          </a:xfrm>
          <a:prstGeom prst="line">
            <a:avLst/>
          </a:prstGeom>
          <a:noFill/>
          <a:ln w="25400">
            <a:solidFill>
              <a:srgbClr val="E74A0A"/>
            </a:solidFill>
            <a:prstDash val="solid"/>
            <a:tailEnd type="triangle"/>
          </a:ln>
        </p:spPr>
        <p:txBody>
          <a:bodyPr/>
          <a:lstStyle/>
          <a:p>
            <a:endParaRPr lang="en-US"/>
          </a:p>
        </p:txBody>
      </p:sp>
      <p:sp>
        <p:nvSpPr>
          <p:cNvPr id="26" name="Shape 20"/>
          <p:cNvSpPr/>
          <p:nvPr/>
        </p:nvSpPr>
        <p:spPr>
          <a:xfrm>
            <a:off x="5001768" y="2994660"/>
            <a:ext cx="237744" cy="0"/>
          </a:xfrm>
          <a:prstGeom prst="line">
            <a:avLst/>
          </a:prstGeom>
          <a:noFill/>
          <a:ln w="25400">
            <a:solidFill>
              <a:srgbClr val="E74A0A"/>
            </a:solidFill>
            <a:prstDash val="solid"/>
            <a:tailEnd type="triangle"/>
          </a:ln>
        </p:spPr>
        <p:txBody>
          <a:bodyPr/>
          <a:lstStyle/>
          <a:p>
            <a:endParaRPr lang="en-US"/>
          </a:p>
        </p:txBody>
      </p:sp>
      <p:sp>
        <p:nvSpPr>
          <p:cNvPr id="27" name="Shape 21"/>
          <p:cNvSpPr/>
          <p:nvPr/>
        </p:nvSpPr>
        <p:spPr>
          <a:xfrm>
            <a:off x="8019288" y="2994660"/>
            <a:ext cx="237744" cy="0"/>
          </a:xfrm>
          <a:prstGeom prst="line">
            <a:avLst/>
          </a:prstGeom>
          <a:noFill/>
          <a:ln w="25400">
            <a:solidFill>
              <a:srgbClr val="E74A0A"/>
            </a:solidFill>
            <a:prstDash val="solid"/>
            <a:tailEnd type="triangle"/>
          </a:ln>
        </p:spPr>
        <p:txBody>
          <a:bodyPr/>
          <a:lstStyle/>
          <a:p>
            <a:endParaRPr lang="en-US"/>
          </a:p>
        </p:txBody>
      </p:sp>
      <p:sp>
        <p:nvSpPr>
          <p:cNvPr id="28" name="Text 22"/>
          <p:cNvSpPr/>
          <p:nvPr/>
        </p:nvSpPr>
        <p:spPr>
          <a:xfrm>
            <a:off x="5257800" y="3959352"/>
            <a:ext cx="6217920" cy="274320"/>
          </a:xfrm>
          <a:prstGeom prst="rect">
            <a:avLst/>
          </a:prstGeom>
          <a:noFill/>
          <a:ln/>
        </p:spPr>
        <p:txBody>
          <a:bodyPr wrap="square" lIns="0" tIns="0" rIns="0" bIns="0" rtlCol="0" anchor="ctr"/>
          <a:lstStyle/>
          <a:p>
            <a:pPr marL="0" indent="0">
              <a:buNone/>
            </a:pPr>
            <a:r>
              <a:rPr lang="en-US" sz="1000" kern="0" spc="200" dirty="0">
                <a:solidFill>
                  <a:srgbClr val="8A7D78"/>
                </a:solidFill>
                <a:latin typeface="Poppins Medium" pitchFamily="34" charset="0"/>
                <a:ea typeface="Poppins Medium" pitchFamily="34" charset="-122"/>
                <a:cs typeface="Poppins Medium" pitchFamily="34" charset="-120"/>
              </a:rPr>
              <a:t>THE CAPTURE PATH</a:t>
            </a:r>
            <a:endParaRPr lang="en-US" sz="1000" dirty="0"/>
          </a:p>
        </p:txBody>
      </p:sp>
      <p:sp>
        <p:nvSpPr>
          <p:cNvPr id="29" name="Shape 23"/>
          <p:cNvSpPr/>
          <p:nvPr/>
        </p:nvSpPr>
        <p:spPr>
          <a:xfrm>
            <a:off x="8275320" y="4343400"/>
            <a:ext cx="3246120" cy="1005840"/>
          </a:xfrm>
          <a:prstGeom prst="roundRect">
            <a:avLst>
              <a:gd name="adj" fmla="val 10909"/>
            </a:avLst>
          </a:prstGeom>
          <a:solidFill>
            <a:srgbClr val="FFFFFF"/>
          </a:solidFill>
          <a:ln w="12700">
            <a:solidFill>
              <a:srgbClr val="E6DFD6"/>
            </a:solidFill>
            <a:prstDash val="solid"/>
          </a:ln>
        </p:spPr>
        <p:txBody>
          <a:bodyPr/>
          <a:lstStyle/>
          <a:p>
            <a:endParaRPr lang="en-US"/>
          </a:p>
        </p:txBody>
      </p:sp>
      <p:sp>
        <p:nvSpPr>
          <p:cNvPr id="30" name="Shape 24"/>
          <p:cNvSpPr/>
          <p:nvPr/>
        </p:nvSpPr>
        <p:spPr>
          <a:xfrm>
            <a:off x="8476488" y="4645152"/>
            <a:ext cx="402336" cy="402336"/>
          </a:xfrm>
          <a:prstGeom prst="ellipse">
            <a:avLst/>
          </a:prstGeom>
          <a:solidFill>
            <a:srgbClr val="FAE2D3"/>
          </a:solidFill>
          <a:ln/>
        </p:spPr>
        <p:txBody>
          <a:bodyPr/>
          <a:lstStyle/>
          <a:p>
            <a:endParaRPr lang="en-US"/>
          </a:p>
        </p:txBody>
      </p:sp>
      <p:pic>
        <p:nvPicPr>
          <p:cNvPr id="31" name="Image 4" descr="/home/claude/deck/assets/icons/server_orange.png"/>
          <p:cNvPicPr>
            <a:picLocks noChangeAspect="1"/>
          </p:cNvPicPr>
          <p:nvPr/>
        </p:nvPicPr>
        <p:blipFill>
          <a:blip r:embed="rId8"/>
          <a:stretch>
            <a:fillRect/>
          </a:stretch>
        </p:blipFill>
        <p:spPr>
          <a:xfrm>
            <a:off x="8573049" y="4741713"/>
            <a:ext cx="209215" cy="209215"/>
          </a:xfrm>
          <a:prstGeom prst="rect">
            <a:avLst/>
          </a:prstGeom>
        </p:spPr>
      </p:pic>
      <p:sp>
        <p:nvSpPr>
          <p:cNvPr id="32" name="Text 25"/>
          <p:cNvSpPr/>
          <p:nvPr/>
        </p:nvSpPr>
        <p:spPr>
          <a:xfrm>
            <a:off x="8988552" y="4489704"/>
            <a:ext cx="2377440" cy="365760"/>
          </a:xfrm>
          <a:prstGeom prst="rect">
            <a:avLst/>
          </a:prstGeom>
          <a:noFill/>
          <a:ln/>
        </p:spPr>
        <p:txBody>
          <a:bodyPr wrap="square" lIns="0" tIns="0" rIns="0" bIns="0" rtlCol="0" anchor="ctr"/>
          <a:lstStyle/>
          <a:p>
            <a:pPr marL="0" indent="0">
              <a:buNone/>
            </a:pPr>
            <a:r>
              <a:rPr lang="en-US" sz="1300" dirty="0">
                <a:solidFill>
                  <a:srgbClr val="212121"/>
                </a:solidFill>
                <a:latin typeface="Poppins Medium" pitchFamily="34" charset="0"/>
                <a:ea typeface="Poppins Medium" pitchFamily="34" charset="-122"/>
                <a:cs typeface="Poppins Medium" pitchFamily="34" charset="-120"/>
              </a:rPr>
              <a:t>moolai_slot</a:t>
            </a:r>
            <a:endParaRPr lang="en-US" sz="1300" dirty="0"/>
          </a:p>
        </p:txBody>
      </p:sp>
      <p:sp>
        <p:nvSpPr>
          <p:cNvPr id="33" name="Text 26"/>
          <p:cNvSpPr/>
          <p:nvPr/>
        </p:nvSpPr>
        <p:spPr>
          <a:xfrm>
            <a:off x="8988552" y="4846320"/>
            <a:ext cx="2377440" cy="320040"/>
          </a:xfrm>
          <a:prstGeom prst="rect">
            <a:avLst/>
          </a:prstGeom>
          <a:noFill/>
          <a:ln/>
        </p:spPr>
        <p:txBody>
          <a:bodyPr wrap="square" lIns="0" tIns="0" rIns="0" bIns="0" rtlCol="0" anchor="ctr"/>
          <a:lstStyle/>
          <a:p>
            <a:pPr marL="0" indent="0">
              <a:buNone/>
            </a:pPr>
            <a:r>
              <a:rPr lang="en-US" sz="1000" dirty="0">
                <a:solidFill>
                  <a:srgbClr val="8A7D78"/>
                </a:solidFill>
                <a:latin typeface="Poppins" pitchFamily="34" charset="0"/>
                <a:ea typeface="Poppins" pitchFamily="34" charset="-122"/>
                <a:cs typeface="Poppins" pitchFamily="34" charset="-120"/>
              </a:rPr>
              <a:t>logical replication slot</a:t>
            </a:r>
            <a:endParaRPr lang="en-US" sz="1000" dirty="0"/>
          </a:p>
        </p:txBody>
      </p:sp>
      <p:sp>
        <p:nvSpPr>
          <p:cNvPr id="34" name="Shape 27"/>
          <p:cNvSpPr/>
          <p:nvPr/>
        </p:nvSpPr>
        <p:spPr>
          <a:xfrm>
            <a:off x="5257800" y="4343400"/>
            <a:ext cx="2743200" cy="1005840"/>
          </a:xfrm>
          <a:prstGeom prst="roundRect">
            <a:avLst>
              <a:gd name="adj" fmla="val 10909"/>
            </a:avLst>
          </a:prstGeom>
          <a:solidFill>
            <a:srgbClr val="FFFFFF"/>
          </a:solidFill>
          <a:ln w="12700">
            <a:solidFill>
              <a:srgbClr val="E6DFD6"/>
            </a:solidFill>
            <a:prstDash val="solid"/>
          </a:ln>
        </p:spPr>
        <p:txBody>
          <a:bodyPr/>
          <a:lstStyle/>
          <a:p>
            <a:endParaRPr lang="en-US"/>
          </a:p>
        </p:txBody>
      </p:sp>
      <p:sp>
        <p:nvSpPr>
          <p:cNvPr id="35" name="Shape 28"/>
          <p:cNvSpPr/>
          <p:nvPr/>
        </p:nvSpPr>
        <p:spPr>
          <a:xfrm>
            <a:off x="5458968" y="4645152"/>
            <a:ext cx="402336" cy="402336"/>
          </a:xfrm>
          <a:prstGeom prst="ellipse">
            <a:avLst/>
          </a:prstGeom>
          <a:solidFill>
            <a:srgbClr val="FAE2D3"/>
          </a:solidFill>
          <a:ln/>
        </p:spPr>
        <p:txBody>
          <a:bodyPr/>
          <a:lstStyle/>
          <a:p>
            <a:endParaRPr lang="en-US"/>
          </a:p>
        </p:txBody>
      </p:sp>
      <p:pic>
        <p:nvPicPr>
          <p:cNvPr id="36" name="Image 5" descr="/home/claude/deck/assets/icons/refresh_orange.png"/>
          <p:cNvPicPr>
            <a:picLocks noChangeAspect="1"/>
          </p:cNvPicPr>
          <p:nvPr/>
        </p:nvPicPr>
        <p:blipFill>
          <a:blip r:embed="rId9"/>
          <a:stretch>
            <a:fillRect/>
          </a:stretch>
        </p:blipFill>
        <p:spPr>
          <a:xfrm>
            <a:off x="5555529" y="4741713"/>
            <a:ext cx="209215" cy="209215"/>
          </a:xfrm>
          <a:prstGeom prst="rect">
            <a:avLst/>
          </a:prstGeom>
        </p:spPr>
      </p:pic>
      <p:sp>
        <p:nvSpPr>
          <p:cNvPr id="37" name="Text 29"/>
          <p:cNvSpPr/>
          <p:nvPr/>
        </p:nvSpPr>
        <p:spPr>
          <a:xfrm>
            <a:off x="5971032" y="4489704"/>
            <a:ext cx="1874520" cy="365760"/>
          </a:xfrm>
          <a:prstGeom prst="rect">
            <a:avLst/>
          </a:prstGeom>
          <a:noFill/>
          <a:ln/>
        </p:spPr>
        <p:txBody>
          <a:bodyPr wrap="square" lIns="0" tIns="0" rIns="0" bIns="0" rtlCol="0" anchor="ctr"/>
          <a:lstStyle/>
          <a:p>
            <a:pPr marL="0" indent="0">
              <a:buNone/>
            </a:pPr>
            <a:r>
              <a:rPr lang="en-US" sz="1300" dirty="0">
                <a:solidFill>
                  <a:srgbClr val="212121"/>
                </a:solidFill>
                <a:latin typeface="Poppins Medium" pitchFamily="34" charset="0"/>
                <a:ea typeface="Poppins Medium" pitchFamily="34" charset="-122"/>
                <a:cs typeface="Poppins Medium" pitchFamily="34" charset="-120"/>
              </a:rPr>
              <a:t>CDC poller → ring buffer</a:t>
            </a:r>
            <a:endParaRPr lang="en-US" sz="1300" dirty="0"/>
          </a:p>
        </p:txBody>
      </p:sp>
      <p:sp>
        <p:nvSpPr>
          <p:cNvPr id="38" name="Text 30"/>
          <p:cNvSpPr/>
          <p:nvPr/>
        </p:nvSpPr>
        <p:spPr>
          <a:xfrm>
            <a:off x="5971032" y="4846320"/>
            <a:ext cx="1874520" cy="320040"/>
          </a:xfrm>
          <a:prstGeom prst="rect">
            <a:avLst/>
          </a:prstGeom>
          <a:noFill/>
          <a:ln/>
        </p:spPr>
        <p:txBody>
          <a:bodyPr wrap="square" lIns="0" tIns="0" rIns="0" bIns="0" rtlCol="0" anchor="ctr"/>
          <a:lstStyle/>
          <a:p>
            <a:pPr marL="0" indent="0">
              <a:buNone/>
            </a:pPr>
            <a:r>
              <a:rPr lang="en-US" sz="1000" dirty="0">
                <a:solidFill>
                  <a:srgbClr val="8A7D78"/>
                </a:solidFill>
                <a:latin typeface="Poppins" pitchFamily="34" charset="0"/>
                <a:ea typeface="Poppins" pitchFamily="34" charset="-122"/>
                <a:cs typeface="Poppins" pitchFamily="34" charset="-120"/>
              </a:rPr>
              <a:t>drains real WAL every 2s</a:t>
            </a:r>
            <a:endParaRPr lang="en-US" sz="1000" dirty="0"/>
          </a:p>
        </p:txBody>
      </p:sp>
      <p:sp>
        <p:nvSpPr>
          <p:cNvPr id="39" name="Shape 31"/>
          <p:cNvSpPr/>
          <p:nvPr/>
        </p:nvSpPr>
        <p:spPr>
          <a:xfrm>
            <a:off x="8019288" y="4846320"/>
            <a:ext cx="237744" cy="0"/>
          </a:xfrm>
          <a:prstGeom prst="line">
            <a:avLst/>
          </a:prstGeom>
          <a:noFill/>
          <a:ln w="25400">
            <a:solidFill>
              <a:srgbClr val="DF550B"/>
            </a:solidFill>
            <a:prstDash val="solid"/>
            <a:headEnd type="triangle"/>
          </a:ln>
        </p:spPr>
        <p:txBody>
          <a:bodyPr/>
          <a:lstStyle/>
          <a:p>
            <a:endParaRPr lang="en-US"/>
          </a:p>
        </p:txBody>
      </p:sp>
      <p:sp>
        <p:nvSpPr>
          <p:cNvPr id="40" name="Shape 32"/>
          <p:cNvSpPr/>
          <p:nvPr/>
        </p:nvSpPr>
        <p:spPr>
          <a:xfrm>
            <a:off x="6629400" y="3611880"/>
            <a:ext cx="0" cy="731520"/>
          </a:xfrm>
          <a:prstGeom prst="line">
            <a:avLst/>
          </a:prstGeom>
          <a:noFill/>
          <a:ln w="25400">
            <a:solidFill>
              <a:srgbClr val="DF550B"/>
            </a:solidFill>
            <a:prstDash val="solid"/>
            <a:headEnd type="triangle"/>
          </a:ln>
        </p:spPr>
        <p:txBody>
          <a:bodyPr/>
          <a:lstStyle/>
          <a:p>
            <a:endParaRPr lang="en-US"/>
          </a:p>
        </p:txBody>
      </p:sp>
      <p:sp>
        <p:nvSpPr>
          <p:cNvPr id="41" name="Shape 33"/>
          <p:cNvSpPr/>
          <p:nvPr/>
        </p:nvSpPr>
        <p:spPr>
          <a:xfrm>
            <a:off x="685800" y="4343400"/>
            <a:ext cx="4160520" cy="1005840"/>
          </a:xfrm>
          <a:prstGeom prst="roundRect">
            <a:avLst>
              <a:gd name="adj" fmla="val 10909"/>
            </a:avLst>
          </a:prstGeom>
          <a:solidFill>
            <a:srgbClr val="FAE2D3"/>
          </a:solidFill>
          <a:ln/>
        </p:spPr>
        <p:txBody>
          <a:bodyPr/>
          <a:lstStyle/>
          <a:p>
            <a:endParaRPr lang="en-US"/>
          </a:p>
        </p:txBody>
      </p:sp>
      <p:sp>
        <p:nvSpPr>
          <p:cNvPr id="42" name="Text 34"/>
          <p:cNvSpPr/>
          <p:nvPr/>
        </p:nvSpPr>
        <p:spPr>
          <a:xfrm>
            <a:off x="896112" y="4471416"/>
            <a:ext cx="3749040" cy="749808"/>
          </a:xfrm>
          <a:prstGeom prst="rect">
            <a:avLst/>
          </a:prstGeom>
          <a:noFill/>
          <a:ln/>
        </p:spPr>
        <p:txBody>
          <a:bodyPr wrap="square" lIns="0" tIns="0" rIns="0" bIns="0" rtlCol="0" anchor="ctr"/>
          <a:lstStyle/>
          <a:p>
            <a:pPr marL="0" indent="0">
              <a:lnSpc>
                <a:spcPct val="120000"/>
              </a:lnSpc>
              <a:buNone/>
            </a:pPr>
            <a:r>
              <a:rPr lang="en-US" sz="1150" dirty="0">
                <a:solidFill>
                  <a:srgbClr val="212121"/>
                </a:solidFill>
                <a:latin typeface="Poppins Medium" pitchFamily="34" charset="0"/>
                <a:ea typeface="Poppins Medium" pitchFamily="34" charset="-122"/>
                <a:cs typeface="Poppins Medium" pitchFamily="34" charset="-120"/>
              </a:rPr>
              <a:t>Real replication lag
</a:t>
            </a:r>
            <a:r>
              <a:rPr lang="en-US" sz="1150" dirty="0">
                <a:solidFill>
                  <a:srgbClr val="DF550B"/>
                </a:solidFill>
                <a:latin typeface="Poppins" pitchFamily="34" charset="0"/>
                <a:ea typeface="Poppins" pitchFamily="34" charset="-122"/>
                <a:cs typeface="Poppins" pitchFamily="34" charset="-120"/>
              </a:rPr>
              <a:t>= retained WAL bytes, pg_wal_lsn_diff</a:t>
            </a:r>
            <a:endParaRPr lang="en-US" sz="1150" dirty="0"/>
          </a:p>
        </p:txBody>
      </p:sp>
      <p:sp>
        <p:nvSpPr>
          <p:cNvPr id="43" name="Text 35"/>
          <p:cNvSpPr/>
          <p:nvPr/>
        </p:nvSpPr>
        <p:spPr>
          <a:xfrm>
            <a:off x="685800" y="5806440"/>
            <a:ext cx="10789920" cy="1371600"/>
          </a:xfrm>
          <a:prstGeom prst="rect">
            <a:avLst/>
          </a:prstGeom>
          <a:noFill/>
          <a:ln/>
        </p:spPr>
        <p:txBody>
          <a:bodyPr wrap="square" lIns="0" tIns="0" rIns="0" bIns="0" rtlCol="0" anchor="t"/>
          <a:lstStyle/>
          <a:p>
            <a:pPr marL="0" indent="0" algn="l">
              <a:lnSpc>
                <a:spcPct val="122000"/>
              </a:lnSpc>
              <a:buNone/>
            </a:pPr>
            <a:r>
              <a:rPr lang="en-US" sz="1100" dirty="0">
                <a:solidFill>
                  <a:srgbClr val="8A7D78"/>
                </a:solidFill>
                <a:latin typeface="Poppins" pitchFamily="34" charset="0"/>
                <a:ea typeface="Poppins" pitchFamily="34" charset="-122"/>
                <a:cs typeface="Poppins" pitchFamily="34" charset="-120"/>
              </a:rPr>
              <a:t>The four tools:  get_pipeline_health  ·  get_recent_changes  ·  get_replication_lag  ·  get_row_count.  All read-only, backed by literal SQL.</a:t>
            </a:r>
            <a:endParaRPr lang="en-US" sz="1100" dirty="0"/>
          </a:p>
        </p:txBody>
      </p:sp>
      <p:pic>
        <p:nvPicPr>
          <p:cNvPr id="44" name="Image 6" descr="/home/claude/deck/assets/logomark_hi.png"/>
          <p:cNvPicPr>
            <a:picLocks noChangeAspect="1"/>
          </p:cNvPicPr>
          <p:nvPr/>
        </p:nvPicPr>
        <p:blipFill>
          <a:blip r:embed="rId10"/>
          <a:stretch>
            <a:fillRect/>
          </a:stretch>
        </p:blipFill>
        <p:spPr>
          <a:xfrm>
            <a:off x="685800" y="6419088"/>
            <a:ext cx="201168" cy="201168"/>
          </a:xfrm>
          <a:prstGeom prst="rect">
            <a:avLst/>
          </a:prstGeom>
        </p:spPr>
      </p:pic>
      <p:sp>
        <p:nvSpPr>
          <p:cNvPr id="45" name="Text 36"/>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8A7D78"/>
                </a:solidFill>
                <a:latin typeface="Poppins Medium" pitchFamily="34" charset="0"/>
                <a:ea typeface="Poppins Medium" pitchFamily="34" charset="-122"/>
                <a:cs typeface="Poppins Medium" pitchFamily="34" charset="-120"/>
              </a:rPr>
              <a:t>MoolAI  ×  Striim</a:t>
            </a:r>
            <a:endParaRPr lang="en-US" sz="850" dirty="0"/>
          </a:p>
        </p:txBody>
      </p:sp>
      <p:sp>
        <p:nvSpPr>
          <p:cNvPr id="46" name="Text 37"/>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8A7D78"/>
                </a:solidFill>
                <a:latin typeface="Poppins" pitchFamily="34" charset="0"/>
                <a:ea typeface="Poppins" pitchFamily="34" charset="-122"/>
                <a:cs typeface="Poppins" pitchFamily="34" charset="-120"/>
              </a:rPr>
              <a:t>05 / 10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48640"/>
            <a:ext cx="7315200" cy="274320"/>
          </a:xfrm>
          <a:prstGeom prst="rect">
            <a:avLst/>
          </a:prstGeom>
          <a:noFill/>
          <a:ln/>
        </p:spPr>
        <p:txBody>
          <a:bodyPr wrap="square" lIns="0" tIns="0" rIns="0" bIns="0" rtlCol="0" anchor="ctr"/>
          <a:lstStyle/>
          <a:p>
            <a:pPr marL="0" indent="0" algn="l">
              <a:buNone/>
            </a:pPr>
            <a:r>
              <a:rPr lang="en-US" sz="1150" kern="0" spc="300" dirty="0">
                <a:solidFill>
                  <a:srgbClr val="EEA53A"/>
                </a:solidFill>
                <a:latin typeface="Poppins Medium" pitchFamily="34" charset="0"/>
                <a:ea typeface="Poppins Medium" pitchFamily="34" charset="-122"/>
                <a:cs typeface="Poppins Medium" pitchFamily="34" charset="-120"/>
              </a:rPr>
              <a:t>WHY IT'S REAL</a:t>
            </a:r>
            <a:endParaRPr lang="en-US" sz="1150" dirty="0"/>
          </a:p>
        </p:txBody>
      </p:sp>
      <p:sp>
        <p:nvSpPr>
          <p:cNvPr id="3" name="Text 1"/>
          <p:cNvSpPr/>
          <p:nvPr/>
        </p:nvSpPr>
        <p:spPr>
          <a:xfrm>
            <a:off x="685800" y="1051560"/>
            <a:ext cx="6766560" cy="1554480"/>
          </a:xfrm>
          <a:prstGeom prst="rect">
            <a:avLst/>
          </a:prstGeom>
          <a:noFill/>
          <a:ln/>
        </p:spPr>
        <p:txBody>
          <a:bodyPr wrap="square" lIns="0" tIns="0" rIns="0" bIns="0" rtlCol="0" anchor="t"/>
          <a:lstStyle/>
          <a:p>
            <a:pPr marL="0" indent="0" algn="l">
              <a:lnSpc>
                <a:spcPct val="105000"/>
              </a:lnSpc>
              <a:buNone/>
            </a:pPr>
            <a:r>
              <a:rPr lang="en-US" sz="3400" kern="0" spc="-30" dirty="0">
                <a:solidFill>
                  <a:srgbClr val="FFFFFF"/>
                </a:solidFill>
                <a:latin typeface="Poppins" pitchFamily="34" charset="0"/>
                <a:ea typeface="Poppins" pitchFamily="34" charset="-122"/>
                <a:cs typeface="Poppins" pitchFamily="34" charset="-120"/>
              </a:rPr>
              <a:t>Real replication lag.</a:t>
            </a:r>
            <a:endParaRPr lang="en-US" sz="3400" dirty="0"/>
          </a:p>
          <a:p>
            <a:pPr marL="0" indent="0" algn="l">
              <a:lnSpc>
                <a:spcPct val="105000"/>
              </a:lnSpc>
              <a:buNone/>
            </a:pPr>
            <a:r>
              <a:rPr lang="en-US" sz="3400" kern="0" spc="-30" dirty="0">
                <a:solidFill>
                  <a:srgbClr val="FFFFFF"/>
                </a:solidFill>
                <a:latin typeface="Poppins" pitchFamily="34" charset="0"/>
                <a:ea typeface="Poppins" pitchFamily="34" charset="-122"/>
                <a:cs typeface="Poppins" pitchFamily="34" charset="-120"/>
              </a:rPr>
              <a:t>Not a dashboard number.</a:t>
            </a:r>
            <a:endParaRPr lang="en-US" sz="3400" dirty="0"/>
          </a:p>
        </p:txBody>
      </p:sp>
      <p:sp>
        <p:nvSpPr>
          <p:cNvPr id="4" name="Text 2"/>
          <p:cNvSpPr/>
          <p:nvPr/>
        </p:nvSpPr>
        <p:spPr>
          <a:xfrm>
            <a:off x="685800" y="3063240"/>
            <a:ext cx="4892040" cy="1371600"/>
          </a:xfrm>
          <a:prstGeom prst="rect">
            <a:avLst/>
          </a:prstGeom>
          <a:noFill/>
          <a:ln/>
        </p:spPr>
        <p:txBody>
          <a:bodyPr wrap="square" lIns="0" tIns="0" rIns="0" bIns="0" rtlCol="0" anchor="t"/>
          <a:lstStyle/>
          <a:p>
            <a:pPr marL="0" indent="0" algn="l">
              <a:lnSpc>
                <a:spcPct val="142000"/>
              </a:lnSpc>
              <a:buNone/>
            </a:pPr>
            <a:r>
              <a:rPr lang="en-US" sz="1450" dirty="0">
                <a:solidFill>
                  <a:srgbClr val="F4D9C6"/>
                </a:solidFill>
                <a:latin typeface="Poppins" pitchFamily="34" charset="0"/>
                <a:ea typeface="Poppins" pitchFamily="34" charset="-122"/>
                <a:cs typeface="Poppins" pitchFamily="34" charset="-120"/>
              </a:rPr>
              <a:t>The lag it reports is the actual write-ahead-log Postgres is holding for the slot. Pause the consumer and it climbs, for real. Resume, and the next poll drains the backlog. It snaps right back to ~0.</a:t>
            </a:r>
            <a:endParaRPr lang="en-US" sz="1450" dirty="0"/>
          </a:p>
        </p:txBody>
      </p:sp>
      <p:sp>
        <p:nvSpPr>
          <p:cNvPr id="5" name="Text 3"/>
          <p:cNvSpPr/>
          <p:nvPr/>
        </p:nvSpPr>
        <p:spPr>
          <a:xfrm>
            <a:off x="685800" y="4800600"/>
            <a:ext cx="4892040" cy="1371600"/>
          </a:xfrm>
          <a:prstGeom prst="rect">
            <a:avLst/>
          </a:prstGeom>
          <a:noFill/>
          <a:ln/>
        </p:spPr>
        <p:txBody>
          <a:bodyPr wrap="square" lIns="0" tIns="0" rIns="0" bIns="0" rtlCol="0" anchor="t"/>
          <a:lstStyle/>
          <a:p>
            <a:pPr marL="0" indent="0" algn="l">
              <a:lnSpc>
                <a:spcPct val="135000"/>
              </a:lnSpc>
              <a:buNone/>
            </a:pPr>
            <a:r>
              <a:rPr lang="en-US" sz="1250" dirty="0">
                <a:solidFill>
                  <a:srgbClr val="C9BEB8"/>
                </a:solidFill>
                <a:latin typeface="Poppins" pitchFamily="34" charset="0"/>
                <a:ea typeface="Poppins" pitchFamily="34" charset="-122"/>
                <a:cs typeface="Poppins" pitchFamily="34" charset="-120"/>
              </a:rPr>
              <a:t>Nothing is lost. That's the guarantee a logical replication slot gives you, and it's exactly why CDC beats polling.</a:t>
            </a:r>
            <a:endParaRPr lang="en-US" sz="1250" dirty="0"/>
          </a:p>
        </p:txBody>
      </p:sp>
      <p:sp>
        <p:nvSpPr>
          <p:cNvPr id="6" name="Shape 4"/>
          <p:cNvSpPr/>
          <p:nvPr/>
        </p:nvSpPr>
        <p:spPr>
          <a:xfrm>
            <a:off x="6172200" y="2103120"/>
            <a:ext cx="5349240" cy="3246120"/>
          </a:xfrm>
          <a:prstGeom prst="roundRect">
            <a:avLst>
              <a:gd name="adj" fmla="val 4507"/>
            </a:avLst>
          </a:prstGeom>
          <a:solidFill>
            <a:srgbClr val="2B2523"/>
          </a:solidFill>
          <a:ln w="12700">
            <a:solidFill>
              <a:srgbClr val="3A302B"/>
            </a:solidFill>
            <a:prstDash val="solid"/>
          </a:ln>
        </p:spPr>
        <p:txBody>
          <a:bodyPr/>
          <a:lstStyle/>
          <a:p>
            <a:endParaRPr lang="en-US"/>
          </a:p>
        </p:txBody>
      </p:sp>
      <p:sp>
        <p:nvSpPr>
          <p:cNvPr id="7" name="Text 5"/>
          <p:cNvSpPr/>
          <p:nvPr/>
        </p:nvSpPr>
        <p:spPr>
          <a:xfrm>
            <a:off x="6629400" y="2423160"/>
            <a:ext cx="4434840" cy="274320"/>
          </a:xfrm>
          <a:prstGeom prst="rect">
            <a:avLst/>
          </a:prstGeom>
          <a:noFill/>
          <a:ln/>
        </p:spPr>
        <p:txBody>
          <a:bodyPr wrap="square" lIns="0" tIns="0" rIns="0" bIns="0" rtlCol="0" anchor="ctr"/>
          <a:lstStyle/>
          <a:p>
            <a:pPr marL="0" indent="0">
              <a:buNone/>
            </a:pPr>
            <a:r>
              <a:rPr lang="en-US" sz="1050" kern="0" spc="200" dirty="0">
                <a:solidFill>
                  <a:srgbClr val="EEA53A"/>
                </a:solidFill>
                <a:latin typeface="Poppins Medium" pitchFamily="34" charset="0"/>
                <a:ea typeface="Poppins Medium" pitchFamily="34" charset="-122"/>
                <a:cs typeface="Poppins Medium" pitchFamily="34" charset="-120"/>
              </a:rPr>
              <a:t>RETAINED WAL, CONSUMER PAUSED</a:t>
            </a:r>
            <a:endParaRPr lang="en-US" sz="1050" dirty="0"/>
          </a:p>
        </p:txBody>
      </p:sp>
      <p:sp>
        <p:nvSpPr>
          <p:cNvPr id="8" name="Text 6"/>
          <p:cNvSpPr/>
          <p:nvPr/>
        </p:nvSpPr>
        <p:spPr>
          <a:xfrm>
            <a:off x="6629400" y="2788920"/>
            <a:ext cx="4434840" cy="1005840"/>
          </a:xfrm>
          <a:prstGeom prst="rect">
            <a:avLst/>
          </a:prstGeom>
          <a:noFill/>
          <a:ln/>
        </p:spPr>
        <p:txBody>
          <a:bodyPr wrap="square" lIns="0" tIns="0" rIns="0" bIns="0" rtlCol="0" anchor="ctr"/>
          <a:lstStyle/>
          <a:p>
            <a:pPr marL="0" indent="0" algn="l">
              <a:buNone/>
            </a:pPr>
            <a:r>
              <a:rPr lang="en-US" sz="4600" kern="0" spc="-100" dirty="0">
                <a:solidFill>
                  <a:srgbClr val="C9BEB8"/>
                </a:solidFill>
                <a:latin typeface="Poppins" pitchFamily="34" charset="0"/>
                <a:ea typeface="Poppins" pitchFamily="34" charset="-122"/>
                <a:cs typeface="Poppins" pitchFamily="34" charset="-120"/>
              </a:rPr>
              <a:t>0 B</a:t>
            </a:r>
            <a:r>
              <a:rPr lang="en-US" sz="4600" kern="0" spc="-100" dirty="0">
                <a:solidFill>
                  <a:srgbClr val="9A8F89"/>
                </a:solidFill>
                <a:latin typeface="Poppins" pitchFamily="34" charset="0"/>
                <a:ea typeface="Poppins" pitchFamily="34" charset="-122"/>
                <a:cs typeface="Poppins" pitchFamily="34" charset="-120"/>
              </a:rPr>
              <a:t>  →  </a:t>
            </a:r>
            <a:r>
              <a:rPr lang="en-US" sz="4600" kern="0" spc="-100" dirty="0">
                <a:solidFill>
                  <a:srgbClr val="FFFFFF"/>
                </a:solidFill>
                <a:latin typeface="Poppins" pitchFamily="34" charset="0"/>
                <a:ea typeface="Poppins" pitchFamily="34" charset="-122"/>
                <a:cs typeface="Poppins" pitchFamily="34" charset="-120"/>
              </a:rPr>
              <a:t>113.7 KB</a:t>
            </a:r>
            <a:endParaRPr lang="en-US" sz="4600" dirty="0"/>
          </a:p>
        </p:txBody>
      </p:sp>
      <p:sp>
        <p:nvSpPr>
          <p:cNvPr id="9" name="Text 7"/>
          <p:cNvSpPr/>
          <p:nvPr/>
        </p:nvSpPr>
        <p:spPr>
          <a:xfrm>
            <a:off x="6629400" y="3840480"/>
            <a:ext cx="4434840" cy="365760"/>
          </a:xfrm>
          <a:prstGeom prst="rect">
            <a:avLst/>
          </a:prstGeom>
          <a:noFill/>
          <a:ln/>
        </p:spPr>
        <p:txBody>
          <a:bodyPr wrap="square" lIns="0" tIns="0" rIns="0" bIns="0" rtlCol="0" anchor="ctr"/>
          <a:lstStyle/>
          <a:p>
            <a:pPr marL="0" indent="0">
              <a:buNone/>
            </a:pPr>
            <a:r>
              <a:rPr lang="en-US" sz="1150" dirty="0">
                <a:solidFill>
                  <a:srgbClr val="F4D9C6"/>
                </a:solidFill>
                <a:latin typeface="Poppins" pitchFamily="34" charset="0"/>
                <a:ea typeface="Poppins" pitchFamily="34" charset="-122"/>
                <a:cs typeface="Poppins" pitchFamily="34" charset="-120"/>
              </a:rPr>
              <a:t>measured live while paused, then drained back to 0 B on resume</a:t>
            </a:r>
            <a:endParaRPr lang="en-US" sz="1150" dirty="0"/>
          </a:p>
        </p:txBody>
      </p:sp>
      <p:sp>
        <p:nvSpPr>
          <p:cNvPr id="10" name="Shape 8"/>
          <p:cNvSpPr/>
          <p:nvPr/>
        </p:nvSpPr>
        <p:spPr>
          <a:xfrm>
            <a:off x="6629400" y="4526280"/>
            <a:ext cx="1417320" cy="457200"/>
          </a:xfrm>
          <a:prstGeom prst="roundRect">
            <a:avLst>
              <a:gd name="adj" fmla="val 50000"/>
            </a:avLst>
          </a:prstGeom>
          <a:solidFill>
            <a:srgbClr val="0F0D0C"/>
          </a:solidFill>
          <a:ln w="12700">
            <a:solidFill>
              <a:srgbClr val="3A302B"/>
            </a:solidFill>
            <a:prstDash val="solid"/>
          </a:ln>
        </p:spPr>
        <p:txBody>
          <a:bodyPr/>
          <a:lstStyle/>
          <a:p>
            <a:endParaRPr lang="en-US"/>
          </a:p>
        </p:txBody>
      </p:sp>
      <p:sp>
        <p:nvSpPr>
          <p:cNvPr id="11" name="Text 9"/>
          <p:cNvSpPr/>
          <p:nvPr/>
        </p:nvSpPr>
        <p:spPr>
          <a:xfrm>
            <a:off x="6629400" y="4526280"/>
            <a:ext cx="1417320" cy="457200"/>
          </a:xfrm>
          <a:prstGeom prst="rect">
            <a:avLst/>
          </a:prstGeom>
          <a:noFill/>
          <a:ln/>
        </p:spPr>
        <p:txBody>
          <a:bodyPr wrap="square" lIns="0" tIns="0" rIns="0" bIns="0" rtlCol="0" anchor="ctr"/>
          <a:lstStyle/>
          <a:p>
            <a:pPr marL="0" indent="0" algn="ctr">
              <a:buNone/>
            </a:pPr>
            <a:r>
              <a:rPr lang="en-US" sz="1050" dirty="0">
                <a:solidFill>
                  <a:srgbClr val="FFFFFF"/>
                </a:solidFill>
                <a:latin typeface="Poppins Medium" pitchFamily="34" charset="0"/>
                <a:ea typeface="Poppins Medium" pitchFamily="34" charset="-122"/>
                <a:cs typeface="Poppins Medium" pitchFamily="34" charset="-120"/>
              </a:rPr>
              <a:t>Pause consumer</a:t>
            </a:r>
            <a:endParaRPr lang="en-US" sz="1050" dirty="0"/>
          </a:p>
        </p:txBody>
      </p:sp>
      <p:sp>
        <p:nvSpPr>
          <p:cNvPr id="12" name="Shape 10"/>
          <p:cNvSpPr/>
          <p:nvPr/>
        </p:nvSpPr>
        <p:spPr>
          <a:xfrm>
            <a:off x="8156448" y="4526280"/>
            <a:ext cx="1417320" cy="457200"/>
          </a:xfrm>
          <a:prstGeom prst="roundRect">
            <a:avLst>
              <a:gd name="adj" fmla="val 50000"/>
            </a:avLst>
          </a:prstGeom>
          <a:solidFill>
            <a:srgbClr val="0F0D0C"/>
          </a:solidFill>
          <a:ln w="12700">
            <a:solidFill>
              <a:srgbClr val="3A302B"/>
            </a:solidFill>
            <a:prstDash val="solid"/>
          </a:ln>
        </p:spPr>
        <p:txBody>
          <a:bodyPr/>
          <a:lstStyle/>
          <a:p>
            <a:endParaRPr lang="en-US"/>
          </a:p>
        </p:txBody>
      </p:sp>
      <p:sp>
        <p:nvSpPr>
          <p:cNvPr id="13" name="Text 11"/>
          <p:cNvSpPr/>
          <p:nvPr/>
        </p:nvSpPr>
        <p:spPr>
          <a:xfrm>
            <a:off x="8156448" y="4526280"/>
            <a:ext cx="1417320" cy="457200"/>
          </a:xfrm>
          <a:prstGeom prst="rect">
            <a:avLst/>
          </a:prstGeom>
          <a:noFill/>
          <a:ln/>
        </p:spPr>
        <p:txBody>
          <a:bodyPr wrap="square" lIns="0" tIns="0" rIns="0" bIns="0" rtlCol="0" anchor="ctr"/>
          <a:lstStyle/>
          <a:p>
            <a:pPr marL="0" indent="0" algn="ctr">
              <a:buNone/>
            </a:pPr>
            <a:r>
              <a:rPr lang="en-US" sz="1050" dirty="0">
                <a:solidFill>
                  <a:srgbClr val="FFFFFF"/>
                </a:solidFill>
                <a:latin typeface="Poppins Medium" pitchFamily="34" charset="0"/>
                <a:ea typeface="Poppins Medium" pitchFamily="34" charset="-122"/>
                <a:cs typeface="Poppins Medium" pitchFamily="34" charset="-120"/>
              </a:rPr>
              <a:t>Lag climbs</a:t>
            </a:r>
            <a:endParaRPr lang="en-US" sz="1050" dirty="0"/>
          </a:p>
        </p:txBody>
      </p:sp>
      <p:sp>
        <p:nvSpPr>
          <p:cNvPr id="14" name="Shape 12"/>
          <p:cNvSpPr/>
          <p:nvPr/>
        </p:nvSpPr>
        <p:spPr>
          <a:xfrm>
            <a:off x="9683496" y="4526280"/>
            <a:ext cx="1417320" cy="457200"/>
          </a:xfrm>
          <a:prstGeom prst="roundRect">
            <a:avLst>
              <a:gd name="adj" fmla="val 50000"/>
            </a:avLst>
          </a:prstGeom>
          <a:solidFill>
            <a:srgbClr val="E74A0A"/>
          </a:solidFill>
          <a:ln w="12700">
            <a:solidFill>
              <a:srgbClr val="E74A0A"/>
            </a:solidFill>
            <a:prstDash val="solid"/>
          </a:ln>
        </p:spPr>
        <p:txBody>
          <a:bodyPr/>
          <a:lstStyle/>
          <a:p>
            <a:endParaRPr lang="en-US"/>
          </a:p>
        </p:txBody>
      </p:sp>
      <p:sp>
        <p:nvSpPr>
          <p:cNvPr id="15" name="Text 13"/>
          <p:cNvSpPr/>
          <p:nvPr/>
        </p:nvSpPr>
        <p:spPr>
          <a:xfrm>
            <a:off x="9683496" y="4526280"/>
            <a:ext cx="1417320" cy="457200"/>
          </a:xfrm>
          <a:prstGeom prst="rect">
            <a:avLst/>
          </a:prstGeom>
          <a:noFill/>
          <a:ln/>
        </p:spPr>
        <p:txBody>
          <a:bodyPr wrap="square" lIns="0" tIns="0" rIns="0" bIns="0" rtlCol="0" anchor="ctr"/>
          <a:lstStyle/>
          <a:p>
            <a:pPr marL="0" indent="0" algn="ctr">
              <a:buNone/>
            </a:pPr>
            <a:r>
              <a:rPr lang="en-US" sz="1050" dirty="0">
                <a:solidFill>
                  <a:srgbClr val="FFFFFF"/>
                </a:solidFill>
                <a:latin typeface="Poppins Medium" pitchFamily="34" charset="0"/>
                <a:ea typeface="Poppins Medium" pitchFamily="34" charset="-122"/>
                <a:cs typeface="Poppins Medium" pitchFamily="34" charset="-120"/>
              </a:rPr>
              <a:t>Resume → 0 B</a:t>
            </a:r>
            <a:endParaRPr lang="en-US" sz="1050" dirty="0"/>
          </a:p>
        </p:txBody>
      </p:sp>
      <p:sp>
        <p:nvSpPr>
          <p:cNvPr id="16" name="Text 14"/>
          <p:cNvSpPr/>
          <p:nvPr/>
        </p:nvSpPr>
        <p:spPr>
          <a:xfrm>
            <a:off x="685800" y="5806440"/>
            <a:ext cx="10789920" cy="457200"/>
          </a:xfrm>
          <a:prstGeom prst="rect">
            <a:avLst/>
          </a:prstGeom>
          <a:noFill/>
          <a:ln/>
        </p:spPr>
        <p:txBody>
          <a:bodyPr wrap="square" lIns="0" tIns="0" rIns="0" bIns="0" rtlCol="0" anchor="ctr"/>
          <a:lstStyle/>
          <a:p>
            <a:pPr marL="0" indent="0">
              <a:lnSpc>
                <a:spcPct val="125000"/>
              </a:lnSpc>
              <a:buNone/>
            </a:pPr>
            <a:r>
              <a:rPr lang="en-US" sz="1100" dirty="0">
                <a:solidFill>
                  <a:srgbClr val="C9BEB8"/>
                </a:solidFill>
                <a:latin typeface="Poppins" pitchFamily="34" charset="0"/>
                <a:ea typeface="Poppins" pitchFamily="34" charset="-122"/>
                <a:cs typeface="Poppins" pitchFamily="34" charset="-120"/>
              </a:rPr>
              <a:t>That's pg_wal_lsn_diff, the gap between the server's current WAL position and the last spot this consumer confirmed. Leave it long enough and it fills the disk. The agent catches that, and explains it in plain English.</a:t>
            </a:r>
            <a:endParaRPr lang="en-US" sz="1100" dirty="0"/>
          </a:p>
        </p:txBody>
      </p:sp>
      <p:pic>
        <p:nvPicPr>
          <p:cNvPr id="17" name="Image 0" descr="/home/claude/deck/assets/logomark_hi.png"/>
          <p:cNvPicPr>
            <a:picLocks noChangeAspect="1"/>
          </p:cNvPicPr>
          <p:nvPr/>
        </p:nvPicPr>
        <p:blipFill>
          <a:blip r:embed="rId4"/>
          <a:stretch>
            <a:fillRect/>
          </a:stretch>
        </p:blipFill>
        <p:spPr>
          <a:xfrm>
            <a:off x="685800" y="6419088"/>
            <a:ext cx="201168" cy="201168"/>
          </a:xfrm>
          <a:prstGeom prst="rect">
            <a:avLst/>
          </a:prstGeom>
        </p:spPr>
      </p:pic>
      <p:sp>
        <p:nvSpPr>
          <p:cNvPr id="18" name="Text 15"/>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F4D9C6"/>
                </a:solidFill>
                <a:latin typeface="Poppins Medium" pitchFamily="34" charset="0"/>
                <a:ea typeface="Poppins Medium" pitchFamily="34" charset="-122"/>
                <a:cs typeface="Poppins Medium" pitchFamily="34" charset="-120"/>
              </a:rPr>
              <a:t>MoolAI  ×  Striim</a:t>
            </a:r>
            <a:endParaRPr lang="en-US" sz="850" dirty="0"/>
          </a:p>
        </p:txBody>
      </p:sp>
      <p:sp>
        <p:nvSpPr>
          <p:cNvPr id="19" name="Text 16"/>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F4D9C6"/>
                </a:solidFill>
                <a:latin typeface="Poppins" pitchFamily="34" charset="0"/>
                <a:ea typeface="Poppins" pitchFamily="34" charset="-122"/>
                <a:cs typeface="Poppins" pitchFamily="34" charset="-120"/>
              </a:rPr>
              <a:t>06 / 10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502920"/>
            <a:ext cx="7315200" cy="274320"/>
          </a:xfrm>
          <a:prstGeom prst="rect">
            <a:avLst/>
          </a:prstGeom>
          <a:noFill/>
          <a:ln/>
        </p:spPr>
        <p:txBody>
          <a:bodyPr wrap="square" lIns="0" tIns="0" rIns="0" bIns="0" rtlCol="0" anchor="ctr"/>
          <a:lstStyle/>
          <a:p>
            <a:pPr marL="0" indent="0" algn="l">
              <a:buNone/>
            </a:pPr>
            <a:r>
              <a:rPr lang="en-US" sz="1150" kern="0" spc="300" dirty="0">
                <a:solidFill>
                  <a:srgbClr val="E74A0A"/>
                </a:solidFill>
                <a:latin typeface="Poppins Medium" pitchFamily="34" charset="0"/>
                <a:ea typeface="Poppins Medium" pitchFamily="34" charset="-122"/>
                <a:cs typeface="Poppins Medium" pitchFamily="34" charset="-120"/>
              </a:rPr>
              <a:t>DETERMINISTIC RAILS</a:t>
            </a:r>
            <a:endParaRPr lang="en-US" sz="1150" dirty="0"/>
          </a:p>
        </p:txBody>
      </p:sp>
      <p:sp>
        <p:nvSpPr>
          <p:cNvPr id="3" name="Text 1"/>
          <p:cNvSpPr/>
          <p:nvPr/>
        </p:nvSpPr>
        <p:spPr>
          <a:xfrm>
            <a:off x="685800" y="960120"/>
            <a:ext cx="10698480" cy="1371600"/>
          </a:xfrm>
          <a:prstGeom prst="rect">
            <a:avLst/>
          </a:prstGeom>
          <a:noFill/>
          <a:ln/>
        </p:spPr>
        <p:txBody>
          <a:bodyPr wrap="square" lIns="0" tIns="0" rIns="0" bIns="0" rtlCol="0" anchor="t"/>
          <a:lstStyle/>
          <a:p>
            <a:pPr marL="0" indent="0" algn="l">
              <a:lnSpc>
                <a:spcPct val="106000"/>
              </a:lnSpc>
              <a:buNone/>
            </a:pPr>
            <a:r>
              <a:rPr lang="en-US" sz="3100" kern="0" spc="-30" dirty="0">
                <a:solidFill>
                  <a:srgbClr val="E74A0A"/>
                </a:solidFill>
                <a:latin typeface="Poppins" pitchFamily="34" charset="0"/>
                <a:ea typeface="Poppins" pitchFamily="34" charset="-122"/>
                <a:cs typeface="Poppins" pitchFamily="34" charset="-120"/>
              </a:rPr>
              <a:t>Four</a:t>
            </a:r>
            <a:r>
              <a:rPr lang="en-US" sz="3100" kern="0" spc="-30" dirty="0">
                <a:solidFill>
                  <a:srgbClr val="212121"/>
                </a:solidFill>
                <a:latin typeface="Poppins" pitchFamily="34" charset="0"/>
                <a:ea typeface="Poppins" pitchFamily="34" charset="-122"/>
                <a:cs typeface="Poppins" pitchFamily="34" charset="-120"/>
              </a:rPr>
              <a:t> independent layers. All four must fail </a:t>
            </a:r>
            <a:r>
              <a:rPr lang="en-US" sz="3100" kern="0" spc="-30" dirty="0">
                <a:solidFill>
                  <a:srgbClr val="E74A0A"/>
                </a:solidFill>
                <a:latin typeface="Poppins" pitchFamily="34" charset="0"/>
                <a:ea typeface="Poppins" pitchFamily="34" charset="-122"/>
                <a:cs typeface="Poppins" pitchFamily="34" charset="-120"/>
              </a:rPr>
              <a:t>before a single write.</a:t>
            </a:r>
            <a:endParaRPr lang="en-US" sz="3100" dirty="0"/>
          </a:p>
        </p:txBody>
      </p:sp>
      <p:sp>
        <p:nvSpPr>
          <p:cNvPr id="4" name="Shape 2"/>
          <p:cNvSpPr/>
          <p:nvPr/>
        </p:nvSpPr>
        <p:spPr>
          <a:xfrm>
            <a:off x="685800" y="2487168"/>
            <a:ext cx="5218024" cy="1737360"/>
          </a:xfrm>
          <a:prstGeom prst="roundRect">
            <a:avLst>
              <a:gd name="adj" fmla="val 7895"/>
            </a:avLst>
          </a:prstGeom>
          <a:solidFill>
            <a:srgbClr val="212121"/>
          </a:solidFill>
          <a:ln/>
          <a:effectLst>
            <a:outerShdw blurRad="127000" dist="50800" dir="5400000" algn="bl" rotWithShape="0">
              <a:srgbClr val="C9BEB8">
                <a:alpha val="28000"/>
              </a:srgbClr>
            </a:outerShdw>
          </a:effectLst>
        </p:spPr>
        <p:txBody>
          <a:bodyPr/>
          <a:lstStyle/>
          <a:p>
            <a:endParaRPr lang="en-US"/>
          </a:p>
        </p:txBody>
      </p:sp>
      <p:sp>
        <p:nvSpPr>
          <p:cNvPr id="5" name="Shape 3"/>
          <p:cNvSpPr/>
          <p:nvPr/>
        </p:nvSpPr>
        <p:spPr>
          <a:xfrm>
            <a:off x="1051560" y="2798064"/>
            <a:ext cx="493776" cy="493776"/>
          </a:xfrm>
          <a:prstGeom prst="ellipse">
            <a:avLst/>
          </a:prstGeom>
          <a:solidFill>
            <a:srgbClr val="EEA53A"/>
          </a:solidFill>
          <a:ln/>
        </p:spPr>
        <p:txBody>
          <a:bodyPr/>
          <a:lstStyle/>
          <a:p>
            <a:endParaRPr lang="en-US"/>
          </a:p>
        </p:txBody>
      </p:sp>
      <p:pic>
        <p:nvPicPr>
          <p:cNvPr id="6" name="Image 0" descr="/home/claude/deck/assets/icons/refuse_ink.png"/>
          <p:cNvPicPr>
            <a:picLocks noChangeAspect="1"/>
          </p:cNvPicPr>
          <p:nvPr/>
        </p:nvPicPr>
        <p:blipFill>
          <a:blip r:embed="rId4"/>
          <a:stretch>
            <a:fillRect/>
          </a:stretch>
        </p:blipFill>
        <p:spPr>
          <a:xfrm>
            <a:off x="1170066" y="2916570"/>
            <a:ext cx="256764" cy="256764"/>
          </a:xfrm>
          <a:prstGeom prst="rect">
            <a:avLst/>
          </a:prstGeom>
        </p:spPr>
      </p:pic>
      <p:sp>
        <p:nvSpPr>
          <p:cNvPr id="7" name="Text 4"/>
          <p:cNvSpPr/>
          <p:nvPr/>
        </p:nvSpPr>
        <p:spPr>
          <a:xfrm>
            <a:off x="4715104" y="2706624"/>
            <a:ext cx="868680" cy="548640"/>
          </a:xfrm>
          <a:prstGeom prst="rect">
            <a:avLst/>
          </a:prstGeom>
          <a:noFill/>
          <a:ln/>
        </p:spPr>
        <p:txBody>
          <a:bodyPr wrap="square" lIns="0" tIns="0" rIns="0" bIns="0" rtlCol="0" anchor="t"/>
          <a:lstStyle/>
          <a:p>
            <a:pPr marL="0" indent="0" algn="r">
              <a:buNone/>
            </a:pPr>
            <a:r>
              <a:rPr lang="en-US" sz="2800" dirty="0">
                <a:solidFill>
                  <a:srgbClr val="3A302B"/>
                </a:solidFill>
                <a:latin typeface="Poppins Light" pitchFamily="34" charset="0"/>
                <a:ea typeface="Poppins Light" pitchFamily="34" charset="-122"/>
                <a:cs typeface="Poppins Light" pitchFamily="34" charset="-120"/>
              </a:rPr>
              <a:t>01</a:t>
            </a:r>
            <a:endParaRPr lang="en-US" sz="2800" dirty="0"/>
          </a:p>
        </p:txBody>
      </p:sp>
      <p:sp>
        <p:nvSpPr>
          <p:cNvPr id="8" name="Text 5"/>
          <p:cNvSpPr/>
          <p:nvPr/>
        </p:nvSpPr>
        <p:spPr>
          <a:xfrm>
            <a:off x="1051560" y="3401568"/>
            <a:ext cx="4486504" cy="347472"/>
          </a:xfrm>
          <a:prstGeom prst="rect">
            <a:avLst/>
          </a:prstGeom>
          <a:noFill/>
          <a:ln/>
        </p:spPr>
        <p:txBody>
          <a:bodyPr wrap="square" lIns="0" tIns="0" rIns="0" bIns="0" rtlCol="0" anchor="ctr"/>
          <a:lstStyle/>
          <a:p>
            <a:pPr marL="0" indent="0">
              <a:buNone/>
            </a:pPr>
            <a:r>
              <a:rPr lang="en-US" sz="1600" dirty="0">
                <a:solidFill>
                  <a:srgbClr val="FFFFFF"/>
                </a:solidFill>
                <a:latin typeface="Poppins Medium" pitchFamily="34" charset="0"/>
                <a:ea typeface="Poppins Medium" pitchFamily="34" charset="-122"/>
                <a:cs typeface="Poppins Medium" pitchFamily="34" charset="-120"/>
              </a:rPr>
              <a:t>Deterministic refusal</a:t>
            </a:r>
            <a:endParaRPr lang="en-US" sz="1600" dirty="0"/>
          </a:p>
        </p:txBody>
      </p:sp>
      <p:sp>
        <p:nvSpPr>
          <p:cNvPr id="9" name="Text 6"/>
          <p:cNvSpPr/>
          <p:nvPr/>
        </p:nvSpPr>
        <p:spPr>
          <a:xfrm>
            <a:off x="1051560" y="3730752"/>
            <a:ext cx="4486504" cy="420624"/>
          </a:xfrm>
          <a:prstGeom prst="rect">
            <a:avLst/>
          </a:prstGeom>
          <a:noFill/>
          <a:ln/>
        </p:spPr>
        <p:txBody>
          <a:bodyPr wrap="square" lIns="0" tIns="0" rIns="0" bIns="0" rtlCol="0" anchor="t"/>
          <a:lstStyle/>
          <a:p>
            <a:pPr marL="0" indent="0">
              <a:lnSpc>
                <a:spcPct val="124000"/>
              </a:lnSpc>
              <a:buNone/>
            </a:pPr>
            <a:r>
              <a:rPr lang="en-US" sz="1150" dirty="0">
                <a:solidFill>
                  <a:srgbClr val="F4D9C6"/>
                </a:solidFill>
                <a:latin typeface="Poppins" pitchFamily="34" charset="0"/>
                <a:ea typeface="Poppins" pitchFamily="34" charset="-122"/>
                <a:cs typeface="Poppins" pitchFamily="34" charset="-120"/>
              </a:rPr>
              <a:t>Refused before the LLM is ever called. No tokens. No leaning on the model's judgment.</a:t>
            </a:r>
            <a:endParaRPr lang="en-US" sz="1150" dirty="0"/>
          </a:p>
        </p:txBody>
      </p:sp>
      <p:sp>
        <p:nvSpPr>
          <p:cNvPr id="10" name="Shape 7"/>
          <p:cNvSpPr/>
          <p:nvPr/>
        </p:nvSpPr>
        <p:spPr>
          <a:xfrm>
            <a:off x="6287872" y="2487168"/>
            <a:ext cx="5218024" cy="1737360"/>
          </a:xfrm>
          <a:prstGeom prst="roundRect">
            <a:avLst>
              <a:gd name="adj" fmla="val 7895"/>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1" name="Shape 8"/>
          <p:cNvSpPr/>
          <p:nvPr/>
        </p:nvSpPr>
        <p:spPr>
          <a:xfrm>
            <a:off x="6653632" y="2798064"/>
            <a:ext cx="493776" cy="493776"/>
          </a:xfrm>
          <a:prstGeom prst="ellipse">
            <a:avLst/>
          </a:prstGeom>
          <a:solidFill>
            <a:srgbClr val="E74A0A"/>
          </a:solidFill>
          <a:ln/>
        </p:spPr>
        <p:txBody>
          <a:bodyPr/>
          <a:lstStyle/>
          <a:p>
            <a:endParaRPr lang="en-US"/>
          </a:p>
        </p:txBody>
      </p:sp>
      <p:pic>
        <p:nvPicPr>
          <p:cNvPr id="12" name="Image 1" descr="/home/claude/deck/assets/icons/layers_white.png"/>
          <p:cNvPicPr>
            <a:picLocks noChangeAspect="1"/>
          </p:cNvPicPr>
          <p:nvPr/>
        </p:nvPicPr>
        <p:blipFill>
          <a:blip r:embed="rId5"/>
          <a:stretch>
            <a:fillRect/>
          </a:stretch>
        </p:blipFill>
        <p:spPr>
          <a:xfrm>
            <a:off x="6772138" y="2916570"/>
            <a:ext cx="256764" cy="256764"/>
          </a:xfrm>
          <a:prstGeom prst="rect">
            <a:avLst/>
          </a:prstGeom>
        </p:spPr>
      </p:pic>
      <p:sp>
        <p:nvSpPr>
          <p:cNvPr id="13" name="Text 9"/>
          <p:cNvSpPr/>
          <p:nvPr/>
        </p:nvSpPr>
        <p:spPr>
          <a:xfrm>
            <a:off x="10317175" y="2706624"/>
            <a:ext cx="868680" cy="548640"/>
          </a:xfrm>
          <a:prstGeom prst="rect">
            <a:avLst/>
          </a:prstGeom>
          <a:noFill/>
          <a:ln/>
        </p:spPr>
        <p:txBody>
          <a:bodyPr wrap="square" lIns="0" tIns="0" rIns="0" bIns="0" rtlCol="0" anchor="t"/>
          <a:lstStyle/>
          <a:p>
            <a:pPr marL="0" indent="0" algn="r">
              <a:buNone/>
            </a:pPr>
            <a:r>
              <a:rPr lang="en-US" sz="2800" dirty="0">
                <a:solidFill>
                  <a:srgbClr val="E6DFD6"/>
                </a:solidFill>
                <a:latin typeface="Poppins Light" pitchFamily="34" charset="0"/>
                <a:ea typeface="Poppins Light" pitchFamily="34" charset="-122"/>
                <a:cs typeface="Poppins Light" pitchFamily="34" charset="-120"/>
              </a:rPr>
              <a:t>02</a:t>
            </a:r>
            <a:endParaRPr lang="en-US" sz="2800" dirty="0"/>
          </a:p>
        </p:txBody>
      </p:sp>
      <p:sp>
        <p:nvSpPr>
          <p:cNvPr id="14" name="Text 10"/>
          <p:cNvSpPr/>
          <p:nvPr/>
        </p:nvSpPr>
        <p:spPr>
          <a:xfrm>
            <a:off x="6653632" y="3401568"/>
            <a:ext cx="4486504" cy="347472"/>
          </a:xfrm>
          <a:prstGeom prst="rect">
            <a:avLst/>
          </a:prstGeom>
          <a:noFill/>
          <a:ln/>
        </p:spPr>
        <p:txBody>
          <a:bodyPr wrap="square" lIns="0" tIns="0" rIns="0" bIns="0" rtlCol="0" anchor="ctr"/>
          <a:lstStyle/>
          <a:p>
            <a:pPr marL="0" indent="0">
              <a:buNone/>
            </a:pPr>
            <a:r>
              <a:rPr lang="en-US" sz="1600" dirty="0">
                <a:solidFill>
                  <a:srgbClr val="212121"/>
                </a:solidFill>
                <a:latin typeface="Poppins Medium" pitchFamily="34" charset="0"/>
                <a:ea typeface="Poppins Medium" pitchFamily="34" charset="-122"/>
                <a:cs typeface="Poppins Medium" pitchFamily="34" charset="-120"/>
              </a:rPr>
              <a:t>Fixed tool surface</a:t>
            </a:r>
            <a:endParaRPr lang="en-US" sz="1600" dirty="0"/>
          </a:p>
        </p:txBody>
      </p:sp>
      <p:sp>
        <p:nvSpPr>
          <p:cNvPr id="15" name="Text 11"/>
          <p:cNvSpPr/>
          <p:nvPr/>
        </p:nvSpPr>
        <p:spPr>
          <a:xfrm>
            <a:off x="6653632" y="3730752"/>
            <a:ext cx="4486504" cy="420624"/>
          </a:xfrm>
          <a:prstGeom prst="rect">
            <a:avLst/>
          </a:prstGeom>
          <a:noFill/>
          <a:ln/>
        </p:spPr>
        <p:txBody>
          <a:bodyPr wrap="square" lIns="0" tIns="0" rIns="0" bIns="0" rtlCol="0" anchor="t"/>
          <a:lstStyle/>
          <a:p>
            <a:pPr marL="0" indent="0">
              <a:lnSpc>
                <a:spcPct val="124000"/>
              </a:lnSpc>
              <a:buNone/>
            </a:pPr>
            <a:r>
              <a:rPr lang="en-US" sz="1150" dirty="0">
                <a:solidFill>
                  <a:srgbClr val="8A7D78"/>
                </a:solidFill>
                <a:latin typeface="Poppins" pitchFamily="34" charset="0"/>
                <a:ea typeface="Poppins" pitchFamily="34" charset="-122"/>
                <a:cs typeface="Poppins" pitchFamily="34" charset="-120"/>
              </a:rPr>
              <a:t>Exactly four read-only tools. No user SQL, no DDL/DML, no free-text reaching the database.</a:t>
            </a:r>
            <a:endParaRPr lang="en-US" sz="1150" dirty="0"/>
          </a:p>
        </p:txBody>
      </p:sp>
      <p:sp>
        <p:nvSpPr>
          <p:cNvPr id="16" name="Shape 12"/>
          <p:cNvSpPr/>
          <p:nvPr/>
        </p:nvSpPr>
        <p:spPr>
          <a:xfrm>
            <a:off x="685800" y="4480560"/>
            <a:ext cx="5218024" cy="1737360"/>
          </a:xfrm>
          <a:prstGeom prst="roundRect">
            <a:avLst>
              <a:gd name="adj" fmla="val 7895"/>
            </a:avLst>
          </a:prstGeom>
          <a:solidFill>
            <a:srgbClr val="FAF8F5"/>
          </a:solidFill>
          <a:ln w="12700">
            <a:solidFill>
              <a:srgbClr val="E6DFD6"/>
            </a:solidFill>
            <a:prstDash val="solid"/>
          </a:ln>
          <a:effectLst>
            <a:outerShdw blurRad="127000" dist="50800" dir="5400000" algn="bl" rotWithShape="0">
              <a:srgbClr val="C9BEB8">
                <a:alpha val="28000"/>
              </a:srgbClr>
            </a:outerShdw>
          </a:effectLst>
        </p:spPr>
        <p:txBody>
          <a:bodyPr/>
          <a:lstStyle/>
          <a:p>
            <a:endParaRPr lang="en-US"/>
          </a:p>
        </p:txBody>
      </p:sp>
      <p:sp>
        <p:nvSpPr>
          <p:cNvPr id="17" name="Shape 13"/>
          <p:cNvSpPr/>
          <p:nvPr/>
        </p:nvSpPr>
        <p:spPr>
          <a:xfrm>
            <a:off x="1051560" y="4791456"/>
            <a:ext cx="493776" cy="493776"/>
          </a:xfrm>
          <a:prstGeom prst="ellipse">
            <a:avLst/>
          </a:prstGeom>
          <a:solidFill>
            <a:srgbClr val="E74A0A"/>
          </a:solidFill>
          <a:ln/>
        </p:spPr>
        <p:txBody>
          <a:bodyPr/>
          <a:lstStyle/>
          <a:p>
            <a:endParaRPr lang="en-US"/>
          </a:p>
        </p:txBody>
      </p:sp>
      <p:pic>
        <p:nvPicPr>
          <p:cNvPr id="18" name="Image 2" descr="/home/claude/deck/assets/icons/filter_white.png"/>
          <p:cNvPicPr>
            <a:picLocks noChangeAspect="1"/>
          </p:cNvPicPr>
          <p:nvPr/>
        </p:nvPicPr>
        <p:blipFill>
          <a:blip r:embed="rId6"/>
          <a:stretch>
            <a:fillRect/>
          </a:stretch>
        </p:blipFill>
        <p:spPr>
          <a:xfrm>
            <a:off x="1170066" y="4909962"/>
            <a:ext cx="256764" cy="256764"/>
          </a:xfrm>
          <a:prstGeom prst="rect">
            <a:avLst/>
          </a:prstGeom>
        </p:spPr>
      </p:pic>
      <p:sp>
        <p:nvSpPr>
          <p:cNvPr id="19" name="Text 14"/>
          <p:cNvSpPr/>
          <p:nvPr/>
        </p:nvSpPr>
        <p:spPr>
          <a:xfrm>
            <a:off x="4715104" y="4700016"/>
            <a:ext cx="868680" cy="548640"/>
          </a:xfrm>
          <a:prstGeom prst="rect">
            <a:avLst/>
          </a:prstGeom>
          <a:noFill/>
          <a:ln/>
        </p:spPr>
        <p:txBody>
          <a:bodyPr wrap="square" lIns="0" tIns="0" rIns="0" bIns="0" rtlCol="0" anchor="t"/>
          <a:lstStyle/>
          <a:p>
            <a:pPr marL="0" indent="0" algn="r">
              <a:buNone/>
            </a:pPr>
            <a:r>
              <a:rPr lang="en-US" sz="2800" dirty="0">
                <a:solidFill>
                  <a:srgbClr val="E6DFD6"/>
                </a:solidFill>
                <a:latin typeface="Poppins Light" pitchFamily="34" charset="0"/>
                <a:ea typeface="Poppins Light" pitchFamily="34" charset="-122"/>
                <a:cs typeface="Poppins Light" pitchFamily="34" charset="-120"/>
              </a:rPr>
              <a:t>03</a:t>
            </a:r>
            <a:endParaRPr lang="en-US" sz="2800" dirty="0"/>
          </a:p>
        </p:txBody>
      </p:sp>
      <p:sp>
        <p:nvSpPr>
          <p:cNvPr id="20" name="Text 15"/>
          <p:cNvSpPr/>
          <p:nvPr/>
        </p:nvSpPr>
        <p:spPr>
          <a:xfrm>
            <a:off x="1051560" y="5394960"/>
            <a:ext cx="4486504" cy="347472"/>
          </a:xfrm>
          <a:prstGeom prst="rect">
            <a:avLst/>
          </a:prstGeom>
          <a:noFill/>
          <a:ln/>
        </p:spPr>
        <p:txBody>
          <a:bodyPr wrap="square" lIns="0" tIns="0" rIns="0" bIns="0" rtlCol="0" anchor="ctr"/>
          <a:lstStyle/>
          <a:p>
            <a:pPr marL="0" indent="0">
              <a:buNone/>
            </a:pPr>
            <a:r>
              <a:rPr lang="en-US" sz="1600" dirty="0">
                <a:solidFill>
                  <a:srgbClr val="212121"/>
                </a:solidFill>
                <a:latin typeface="Poppins Medium" pitchFamily="34" charset="0"/>
                <a:ea typeface="Poppins Medium" pitchFamily="34" charset="-122"/>
                <a:cs typeface="Poppins Medium" pitchFamily="34" charset="-120"/>
              </a:rPr>
              <a:t>Table allowlist</a:t>
            </a:r>
            <a:endParaRPr lang="en-US" sz="1600" dirty="0"/>
          </a:p>
        </p:txBody>
      </p:sp>
      <p:sp>
        <p:nvSpPr>
          <p:cNvPr id="21" name="Text 16"/>
          <p:cNvSpPr/>
          <p:nvPr/>
        </p:nvSpPr>
        <p:spPr>
          <a:xfrm>
            <a:off x="1051560" y="5724144"/>
            <a:ext cx="4486504" cy="420624"/>
          </a:xfrm>
          <a:prstGeom prst="rect">
            <a:avLst/>
          </a:prstGeom>
          <a:noFill/>
          <a:ln/>
        </p:spPr>
        <p:txBody>
          <a:bodyPr wrap="square" lIns="0" tIns="0" rIns="0" bIns="0" rtlCol="0" anchor="t"/>
          <a:lstStyle/>
          <a:p>
            <a:pPr marL="0" indent="0">
              <a:lnSpc>
                <a:spcPct val="124000"/>
              </a:lnSpc>
              <a:buNone/>
            </a:pPr>
            <a:r>
              <a:rPr lang="en-US" sz="1150" dirty="0">
                <a:solidFill>
                  <a:srgbClr val="8A7D78"/>
                </a:solidFill>
                <a:latin typeface="Poppins" pitchFamily="34" charset="0"/>
                <a:ea typeface="Poppins" pitchFamily="34" charset="-122"/>
                <a:cs typeface="Poppins" pitchFamily="34" charset="-120"/>
              </a:rPr>
              <a:t>Only customers and orders, re-checked in code. Casing tricks and injection get rejected.</a:t>
            </a:r>
            <a:endParaRPr lang="en-US" sz="1150" dirty="0"/>
          </a:p>
        </p:txBody>
      </p:sp>
      <p:sp>
        <p:nvSpPr>
          <p:cNvPr id="22" name="Shape 17"/>
          <p:cNvSpPr/>
          <p:nvPr/>
        </p:nvSpPr>
        <p:spPr>
          <a:xfrm>
            <a:off x="6287872" y="4480560"/>
            <a:ext cx="5218024" cy="1737360"/>
          </a:xfrm>
          <a:prstGeom prst="roundRect">
            <a:avLst>
              <a:gd name="adj" fmla="val 7895"/>
            </a:avLst>
          </a:prstGeom>
          <a:solidFill>
            <a:srgbClr val="E74A0A"/>
          </a:solidFill>
          <a:ln/>
          <a:effectLst>
            <a:outerShdw blurRad="127000" dist="50800" dir="5400000" algn="bl" rotWithShape="0">
              <a:srgbClr val="C9BEB8">
                <a:alpha val="28000"/>
              </a:srgbClr>
            </a:outerShdw>
          </a:effectLst>
        </p:spPr>
        <p:txBody>
          <a:bodyPr/>
          <a:lstStyle/>
          <a:p>
            <a:endParaRPr lang="en-US"/>
          </a:p>
        </p:txBody>
      </p:sp>
      <p:sp>
        <p:nvSpPr>
          <p:cNvPr id="23" name="Shape 18"/>
          <p:cNvSpPr/>
          <p:nvPr/>
        </p:nvSpPr>
        <p:spPr>
          <a:xfrm>
            <a:off x="6653632" y="4791456"/>
            <a:ext cx="493776" cy="493776"/>
          </a:xfrm>
          <a:prstGeom prst="ellipse">
            <a:avLst/>
          </a:prstGeom>
          <a:solidFill>
            <a:srgbClr val="FFFFFF"/>
          </a:solidFill>
          <a:ln/>
        </p:spPr>
        <p:txBody>
          <a:bodyPr/>
          <a:lstStyle/>
          <a:p>
            <a:endParaRPr lang="en-US"/>
          </a:p>
        </p:txBody>
      </p:sp>
      <p:pic>
        <p:nvPicPr>
          <p:cNvPr id="24" name="Image 3" descr="/home/claude/deck/assets/icons/lock_orange.png"/>
          <p:cNvPicPr>
            <a:picLocks noChangeAspect="1"/>
          </p:cNvPicPr>
          <p:nvPr/>
        </p:nvPicPr>
        <p:blipFill>
          <a:blip r:embed="rId7"/>
          <a:stretch>
            <a:fillRect/>
          </a:stretch>
        </p:blipFill>
        <p:spPr>
          <a:xfrm>
            <a:off x="6772138" y="4909962"/>
            <a:ext cx="256764" cy="256764"/>
          </a:xfrm>
          <a:prstGeom prst="rect">
            <a:avLst/>
          </a:prstGeom>
        </p:spPr>
      </p:pic>
      <p:sp>
        <p:nvSpPr>
          <p:cNvPr id="25" name="Text 19"/>
          <p:cNvSpPr/>
          <p:nvPr/>
        </p:nvSpPr>
        <p:spPr>
          <a:xfrm>
            <a:off x="10317175" y="4700016"/>
            <a:ext cx="868680" cy="548640"/>
          </a:xfrm>
          <a:prstGeom prst="rect">
            <a:avLst/>
          </a:prstGeom>
          <a:noFill/>
          <a:ln/>
        </p:spPr>
        <p:txBody>
          <a:bodyPr wrap="square" lIns="0" tIns="0" rIns="0" bIns="0" rtlCol="0" anchor="t"/>
          <a:lstStyle/>
          <a:p>
            <a:pPr marL="0" indent="0" algn="r">
              <a:buNone/>
            </a:pPr>
            <a:r>
              <a:rPr lang="en-US" sz="2800" dirty="0">
                <a:solidFill>
                  <a:srgbClr val="F6B48F"/>
                </a:solidFill>
                <a:latin typeface="Poppins Light" pitchFamily="34" charset="0"/>
                <a:ea typeface="Poppins Light" pitchFamily="34" charset="-122"/>
                <a:cs typeface="Poppins Light" pitchFamily="34" charset="-120"/>
              </a:rPr>
              <a:t>04</a:t>
            </a:r>
            <a:endParaRPr lang="en-US" sz="2800" dirty="0"/>
          </a:p>
        </p:txBody>
      </p:sp>
      <p:sp>
        <p:nvSpPr>
          <p:cNvPr id="26" name="Text 20"/>
          <p:cNvSpPr/>
          <p:nvPr/>
        </p:nvSpPr>
        <p:spPr>
          <a:xfrm>
            <a:off x="6653632" y="5394960"/>
            <a:ext cx="4486504" cy="347472"/>
          </a:xfrm>
          <a:prstGeom prst="rect">
            <a:avLst/>
          </a:prstGeom>
          <a:noFill/>
          <a:ln/>
        </p:spPr>
        <p:txBody>
          <a:bodyPr wrap="square" lIns="0" tIns="0" rIns="0" bIns="0" rtlCol="0" anchor="ctr"/>
          <a:lstStyle/>
          <a:p>
            <a:pPr marL="0" indent="0">
              <a:buNone/>
            </a:pPr>
            <a:r>
              <a:rPr lang="en-US" sz="1600" dirty="0">
                <a:solidFill>
                  <a:srgbClr val="FFFFFF"/>
                </a:solidFill>
                <a:latin typeface="Poppins Medium" pitchFamily="34" charset="0"/>
                <a:ea typeface="Poppins Medium" pitchFamily="34" charset="-122"/>
                <a:cs typeface="Poppins Medium" pitchFamily="34" charset="-120"/>
              </a:rPr>
              <a:t>PostgreSQL itself</a:t>
            </a:r>
            <a:endParaRPr lang="en-US" sz="1600" dirty="0"/>
          </a:p>
        </p:txBody>
      </p:sp>
      <p:sp>
        <p:nvSpPr>
          <p:cNvPr id="27" name="Text 21"/>
          <p:cNvSpPr/>
          <p:nvPr/>
        </p:nvSpPr>
        <p:spPr>
          <a:xfrm>
            <a:off x="6653632" y="5724144"/>
            <a:ext cx="4486504" cy="420624"/>
          </a:xfrm>
          <a:prstGeom prst="rect">
            <a:avLst/>
          </a:prstGeom>
          <a:noFill/>
          <a:ln/>
        </p:spPr>
        <p:txBody>
          <a:bodyPr wrap="square" lIns="0" tIns="0" rIns="0" bIns="0" rtlCol="0" anchor="t"/>
          <a:lstStyle/>
          <a:p>
            <a:pPr marL="0" indent="0">
              <a:lnSpc>
                <a:spcPct val="124000"/>
              </a:lnSpc>
              <a:buNone/>
            </a:pPr>
            <a:r>
              <a:rPr lang="en-US" sz="1150" dirty="0">
                <a:solidFill>
                  <a:srgbClr val="FFFFFF"/>
                </a:solidFill>
                <a:latin typeface="Poppins" pitchFamily="34" charset="0"/>
                <a:ea typeface="Poppins" pitchFamily="34" charset="-122"/>
                <a:cs typeface="Poppins" pitchFamily="34" charset="-120"/>
              </a:rPr>
              <a:t>moolai_agent holds SELECT on two tables, pinned read-only. A write gets rejected by the server.</a:t>
            </a:r>
            <a:endParaRPr lang="en-US" sz="1150" dirty="0"/>
          </a:p>
        </p:txBody>
      </p:sp>
      <p:pic>
        <p:nvPicPr>
          <p:cNvPr id="28" name="Image 4" descr="/home/claude/deck/assets/logomark_hi.png"/>
          <p:cNvPicPr>
            <a:picLocks noChangeAspect="1"/>
          </p:cNvPicPr>
          <p:nvPr/>
        </p:nvPicPr>
        <p:blipFill>
          <a:blip r:embed="rId8"/>
          <a:stretch>
            <a:fillRect/>
          </a:stretch>
        </p:blipFill>
        <p:spPr>
          <a:xfrm>
            <a:off x="685800" y="6419088"/>
            <a:ext cx="201168" cy="201168"/>
          </a:xfrm>
          <a:prstGeom prst="rect">
            <a:avLst/>
          </a:prstGeom>
        </p:spPr>
      </p:pic>
      <p:sp>
        <p:nvSpPr>
          <p:cNvPr id="29" name="Text 22"/>
          <p:cNvSpPr/>
          <p:nvPr/>
        </p:nvSpPr>
        <p:spPr>
          <a:xfrm>
            <a:off x="932688" y="6400800"/>
            <a:ext cx="2743200" cy="237744"/>
          </a:xfrm>
          <a:prstGeom prst="rect">
            <a:avLst/>
          </a:prstGeom>
          <a:noFill/>
          <a:ln/>
        </p:spPr>
        <p:txBody>
          <a:bodyPr wrap="square" lIns="0" tIns="0" rIns="0" bIns="0" rtlCol="0" anchor="ctr"/>
          <a:lstStyle/>
          <a:p>
            <a:pPr marL="0" indent="0">
              <a:buNone/>
            </a:pPr>
            <a:r>
              <a:rPr lang="en-US" sz="850" kern="0" spc="100" dirty="0">
                <a:solidFill>
                  <a:srgbClr val="8A7D78"/>
                </a:solidFill>
                <a:latin typeface="Poppins Medium" pitchFamily="34" charset="0"/>
                <a:ea typeface="Poppins Medium" pitchFamily="34" charset="-122"/>
                <a:cs typeface="Poppins Medium" pitchFamily="34" charset="-120"/>
              </a:rPr>
              <a:t>MoolAI  ×  Striim</a:t>
            </a:r>
            <a:endParaRPr lang="en-US" sz="850" dirty="0"/>
          </a:p>
        </p:txBody>
      </p:sp>
      <p:sp>
        <p:nvSpPr>
          <p:cNvPr id="30" name="Text 23"/>
          <p:cNvSpPr/>
          <p:nvPr/>
        </p:nvSpPr>
        <p:spPr>
          <a:xfrm>
            <a:off x="10607040" y="6400800"/>
            <a:ext cx="896112" cy="237744"/>
          </a:xfrm>
          <a:prstGeom prst="rect">
            <a:avLst/>
          </a:prstGeom>
          <a:noFill/>
          <a:ln/>
        </p:spPr>
        <p:txBody>
          <a:bodyPr wrap="square" lIns="0" tIns="0" rIns="0" bIns="0" rtlCol="0" anchor="ctr"/>
          <a:lstStyle/>
          <a:p>
            <a:pPr marL="0" indent="0" algn="r">
              <a:buNone/>
            </a:pPr>
            <a:r>
              <a:rPr lang="en-US" sz="850" dirty="0">
                <a:solidFill>
                  <a:srgbClr val="8A7D78"/>
                </a:solidFill>
                <a:latin typeface="Poppins" pitchFamily="34" charset="0"/>
                <a:ea typeface="Poppins" pitchFamily="34" charset="-122"/>
                <a:cs typeface="Poppins" pitchFamily="34" charset="-120"/>
              </a:rPr>
              <a:t>07 / 10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777240"/>
            <a:ext cx="4754880" cy="320040"/>
          </a:xfrm>
          <a:prstGeom prst="rect">
            <a:avLst/>
          </a:prstGeom>
          <a:noFill/>
          <a:ln/>
        </p:spPr>
        <p:txBody>
          <a:bodyPr wrap="square" lIns="0" tIns="0" rIns="0" bIns="0" rtlCol="0" anchor="ctr"/>
          <a:lstStyle/>
          <a:p>
            <a:pPr marL="0" indent="0">
              <a:buNone/>
            </a:pPr>
            <a:r>
              <a:rPr lang="en-US" sz="1200" kern="0" spc="250" dirty="0">
                <a:solidFill>
                  <a:srgbClr val="212121"/>
                </a:solidFill>
                <a:latin typeface="Poppins Medium" pitchFamily="34" charset="0"/>
                <a:ea typeface="Poppins Medium" pitchFamily="34" charset="-122"/>
                <a:cs typeface="Poppins Medium" pitchFamily="34" charset="-120"/>
              </a:rPr>
              <a:t>THE STATUS QUO</a:t>
            </a:r>
            <a:endParaRPr lang="en-US" sz="1200" dirty="0"/>
          </a:p>
        </p:txBody>
      </p:sp>
      <p:sp>
        <p:nvSpPr>
          <p:cNvPr id="3" name="Shape 1"/>
          <p:cNvSpPr/>
          <p:nvPr/>
        </p:nvSpPr>
        <p:spPr>
          <a:xfrm>
            <a:off x="822960" y="1673352"/>
            <a:ext cx="146304" cy="146304"/>
          </a:xfrm>
          <a:prstGeom prst="ellipse">
            <a:avLst/>
          </a:prstGeom>
          <a:solidFill>
            <a:srgbClr val="212121"/>
          </a:solidFill>
          <a:ln/>
        </p:spPr>
        <p:txBody>
          <a:bodyPr/>
          <a:lstStyle/>
          <a:p>
            <a:endParaRPr lang="en-US"/>
          </a:p>
        </p:txBody>
      </p:sp>
      <p:sp>
        <p:nvSpPr>
          <p:cNvPr id="4" name="Text 2"/>
          <p:cNvSpPr/>
          <p:nvPr/>
        </p:nvSpPr>
        <p:spPr>
          <a:xfrm>
            <a:off x="1143000" y="1527048"/>
            <a:ext cx="457200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Passive dashboards</a:t>
            </a:r>
            <a:endParaRPr lang="en-US" sz="1800" dirty="0"/>
          </a:p>
        </p:txBody>
      </p:sp>
      <p:sp>
        <p:nvSpPr>
          <p:cNvPr id="5" name="Text 3"/>
          <p:cNvSpPr/>
          <p:nvPr/>
        </p:nvSpPr>
        <p:spPr>
          <a:xfrm>
            <a:off x="1143000" y="1984248"/>
            <a:ext cx="4572000" cy="320040"/>
          </a:xfrm>
          <a:prstGeom prst="rect">
            <a:avLst/>
          </a:prstGeom>
          <a:noFill/>
          <a:ln/>
        </p:spPr>
        <p:txBody>
          <a:bodyPr wrap="square" lIns="0" tIns="0" rIns="0" bIns="0" rtlCol="0" anchor="ctr"/>
          <a:lstStyle/>
          <a:p>
            <a:pPr marL="0" indent="0">
              <a:buNone/>
            </a:pPr>
            <a:r>
              <a:rPr lang="en-US" sz="1200" dirty="0">
                <a:solidFill>
                  <a:srgbClr val="7A2E10"/>
                </a:solidFill>
                <a:latin typeface="Poppins" pitchFamily="34" charset="0"/>
                <a:ea typeface="Poppins" pitchFamily="34" charset="-122"/>
                <a:cs typeface="Poppins" pitchFamily="34" charset="-120"/>
              </a:rPr>
              <a:t>surface a number only if you look</a:t>
            </a:r>
            <a:endParaRPr lang="en-US" sz="1200" dirty="0"/>
          </a:p>
        </p:txBody>
      </p:sp>
      <p:sp>
        <p:nvSpPr>
          <p:cNvPr id="6" name="Shape 4"/>
          <p:cNvSpPr/>
          <p:nvPr/>
        </p:nvSpPr>
        <p:spPr>
          <a:xfrm>
            <a:off x="822960" y="2770632"/>
            <a:ext cx="146304" cy="146304"/>
          </a:xfrm>
          <a:prstGeom prst="ellipse">
            <a:avLst/>
          </a:prstGeom>
          <a:solidFill>
            <a:srgbClr val="212121"/>
          </a:solidFill>
          <a:ln/>
        </p:spPr>
        <p:txBody>
          <a:bodyPr/>
          <a:lstStyle/>
          <a:p>
            <a:endParaRPr lang="en-US"/>
          </a:p>
        </p:txBody>
      </p:sp>
      <p:sp>
        <p:nvSpPr>
          <p:cNvPr id="7" name="Text 5"/>
          <p:cNvSpPr/>
          <p:nvPr/>
        </p:nvSpPr>
        <p:spPr>
          <a:xfrm>
            <a:off x="1143000" y="2624328"/>
            <a:ext cx="457200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Buried in psql</a:t>
            </a:r>
            <a:endParaRPr lang="en-US" sz="1800" dirty="0"/>
          </a:p>
        </p:txBody>
      </p:sp>
      <p:sp>
        <p:nvSpPr>
          <p:cNvPr id="8" name="Text 6"/>
          <p:cNvSpPr/>
          <p:nvPr/>
        </p:nvSpPr>
        <p:spPr>
          <a:xfrm>
            <a:off x="1143000" y="3081528"/>
            <a:ext cx="4572000" cy="320040"/>
          </a:xfrm>
          <a:prstGeom prst="rect">
            <a:avLst/>
          </a:prstGeom>
          <a:noFill/>
          <a:ln/>
        </p:spPr>
        <p:txBody>
          <a:bodyPr wrap="square" lIns="0" tIns="0" rIns="0" bIns="0" rtlCol="0" anchor="ctr"/>
          <a:lstStyle/>
          <a:p>
            <a:pPr marL="0" indent="0">
              <a:buNone/>
            </a:pPr>
            <a:r>
              <a:rPr lang="en-US" sz="1200" dirty="0">
                <a:solidFill>
                  <a:srgbClr val="7A2E10"/>
                </a:solidFill>
                <a:latin typeface="Poppins" pitchFamily="34" charset="0"/>
                <a:ea typeface="Poppins" pitchFamily="34" charset="-122"/>
                <a:cs typeface="Poppins" pitchFamily="34" charset="-120"/>
              </a:rPr>
              <a:t>the answer lives behind a specialist</a:t>
            </a:r>
            <a:endParaRPr lang="en-US" sz="1200" dirty="0"/>
          </a:p>
        </p:txBody>
      </p:sp>
      <p:sp>
        <p:nvSpPr>
          <p:cNvPr id="9" name="Shape 7"/>
          <p:cNvSpPr/>
          <p:nvPr/>
        </p:nvSpPr>
        <p:spPr>
          <a:xfrm>
            <a:off x="822960" y="3867912"/>
            <a:ext cx="146304" cy="146304"/>
          </a:xfrm>
          <a:prstGeom prst="ellipse">
            <a:avLst/>
          </a:prstGeom>
          <a:solidFill>
            <a:srgbClr val="212121"/>
          </a:solidFill>
          <a:ln/>
        </p:spPr>
        <p:txBody>
          <a:bodyPr/>
          <a:lstStyle/>
          <a:p>
            <a:endParaRPr lang="en-US"/>
          </a:p>
        </p:txBody>
      </p:sp>
      <p:sp>
        <p:nvSpPr>
          <p:cNvPr id="10" name="Text 8"/>
          <p:cNvSpPr/>
          <p:nvPr/>
        </p:nvSpPr>
        <p:spPr>
          <a:xfrm>
            <a:off x="1143000" y="3721608"/>
            <a:ext cx="457200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Specialist-only</a:t>
            </a:r>
            <a:endParaRPr lang="en-US" sz="1800" dirty="0"/>
          </a:p>
        </p:txBody>
      </p:sp>
      <p:sp>
        <p:nvSpPr>
          <p:cNvPr id="11" name="Text 9"/>
          <p:cNvSpPr/>
          <p:nvPr/>
        </p:nvSpPr>
        <p:spPr>
          <a:xfrm>
            <a:off x="1143000" y="4178808"/>
            <a:ext cx="4572000" cy="320040"/>
          </a:xfrm>
          <a:prstGeom prst="rect">
            <a:avLst/>
          </a:prstGeom>
          <a:noFill/>
          <a:ln/>
        </p:spPr>
        <p:txBody>
          <a:bodyPr wrap="square" lIns="0" tIns="0" rIns="0" bIns="0" rtlCol="0" anchor="ctr"/>
          <a:lstStyle/>
          <a:p>
            <a:pPr marL="0" indent="0">
              <a:buNone/>
            </a:pPr>
            <a:r>
              <a:rPr lang="en-US" sz="1200" dirty="0">
                <a:solidFill>
                  <a:srgbClr val="7A2E10"/>
                </a:solidFill>
                <a:latin typeface="Poppins" pitchFamily="34" charset="0"/>
                <a:ea typeface="Poppins" pitchFamily="34" charset="-122"/>
                <a:cs typeface="Poppins" pitchFamily="34" charset="-120"/>
              </a:rPr>
              <a:t>one person can read replication lag</a:t>
            </a:r>
            <a:endParaRPr lang="en-US" sz="1200" dirty="0"/>
          </a:p>
        </p:txBody>
      </p:sp>
      <p:sp>
        <p:nvSpPr>
          <p:cNvPr id="12" name="Shape 10"/>
          <p:cNvSpPr/>
          <p:nvPr/>
        </p:nvSpPr>
        <p:spPr>
          <a:xfrm>
            <a:off x="822960" y="4965192"/>
            <a:ext cx="146304" cy="146304"/>
          </a:xfrm>
          <a:prstGeom prst="ellipse">
            <a:avLst/>
          </a:prstGeom>
          <a:solidFill>
            <a:srgbClr val="212121"/>
          </a:solidFill>
          <a:ln/>
        </p:spPr>
        <p:txBody>
          <a:bodyPr/>
          <a:lstStyle/>
          <a:p>
            <a:endParaRPr lang="en-US"/>
          </a:p>
        </p:txBody>
      </p:sp>
      <p:sp>
        <p:nvSpPr>
          <p:cNvPr id="13" name="Text 11"/>
          <p:cNvSpPr/>
          <p:nvPr/>
        </p:nvSpPr>
        <p:spPr>
          <a:xfrm>
            <a:off x="1143000" y="4818888"/>
            <a:ext cx="457200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Silent until the outage</a:t>
            </a:r>
            <a:endParaRPr lang="en-US" sz="1800" dirty="0"/>
          </a:p>
        </p:txBody>
      </p:sp>
      <p:sp>
        <p:nvSpPr>
          <p:cNvPr id="14" name="Text 12"/>
          <p:cNvSpPr/>
          <p:nvPr/>
        </p:nvSpPr>
        <p:spPr>
          <a:xfrm>
            <a:off x="1143000" y="5276088"/>
            <a:ext cx="4572000" cy="320040"/>
          </a:xfrm>
          <a:prstGeom prst="rect">
            <a:avLst/>
          </a:prstGeom>
          <a:noFill/>
          <a:ln/>
        </p:spPr>
        <p:txBody>
          <a:bodyPr wrap="square" lIns="0" tIns="0" rIns="0" bIns="0" rtlCol="0" anchor="ctr"/>
          <a:lstStyle/>
          <a:p>
            <a:pPr marL="0" indent="0">
              <a:buNone/>
            </a:pPr>
            <a:r>
              <a:rPr lang="en-US" sz="1200" dirty="0">
                <a:solidFill>
                  <a:srgbClr val="7A2E10"/>
                </a:solidFill>
                <a:latin typeface="Poppins" pitchFamily="34" charset="0"/>
                <a:ea typeface="Poppins" pitchFamily="34" charset="-122"/>
                <a:cs typeface="Poppins" pitchFamily="34" charset="-120"/>
              </a:rPr>
              <a:t>no signal until the disk fills</a:t>
            </a:r>
            <a:endParaRPr lang="en-US" sz="1200" dirty="0"/>
          </a:p>
        </p:txBody>
      </p:sp>
      <p:pic>
        <p:nvPicPr>
          <p:cNvPr id="15" name="Image 0" descr="/home/claude/deck/assets/logo_full_hi.png"/>
          <p:cNvPicPr>
            <a:picLocks noChangeAspect="1"/>
          </p:cNvPicPr>
          <p:nvPr/>
        </p:nvPicPr>
        <p:blipFill>
          <a:blip r:embed="rId4"/>
          <a:stretch>
            <a:fillRect/>
          </a:stretch>
        </p:blipFill>
        <p:spPr>
          <a:xfrm>
            <a:off x="6720840" y="731520"/>
            <a:ext cx="1828800" cy="542239"/>
          </a:xfrm>
          <a:prstGeom prst="rect">
            <a:avLst/>
          </a:prstGeom>
        </p:spPr>
      </p:pic>
      <p:pic>
        <p:nvPicPr>
          <p:cNvPr id="16" name="Image 1" descr="/home/claude/deck/assets/icons/check_orange.png"/>
          <p:cNvPicPr>
            <a:picLocks noChangeAspect="1"/>
          </p:cNvPicPr>
          <p:nvPr/>
        </p:nvPicPr>
        <p:blipFill>
          <a:blip r:embed="rId5"/>
          <a:stretch>
            <a:fillRect/>
          </a:stretch>
        </p:blipFill>
        <p:spPr>
          <a:xfrm>
            <a:off x="6766560" y="1755648"/>
            <a:ext cx="237744" cy="237744"/>
          </a:xfrm>
          <a:prstGeom prst="rect">
            <a:avLst/>
          </a:prstGeom>
        </p:spPr>
      </p:pic>
      <p:sp>
        <p:nvSpPr>
          <p:cNvPr id="17" name="Text 13"/>
          <p:cNvSpPr/>
          <p:nvPr/>
        </p:nvSpPr>
        <p:spPr>
          <a:xfrm>
            <a:off x="7132320" y="1664208"/>
            <a:ext cx="448056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Ask in plain English</a:t>
            </a:r>
            <a:endParaRPr lang="en-US" sz="1800" dirty="0"/>
          </a:p>
        </p:txBody>
      </p:sp>
      <p:sp>
        <p:nvSpPr>
          <p:cNvPr id="18" name="Text 14"/>
          <p:cNvSpPr/>
          <p:nvPr/>
        </p:nvSpPr>
        <p:spPr>
          <a:xfrm>
            <a:off x="7132320" y="2121408"/>
            <a:ext cx="4480560" cy="320040"/>
          </a:xfrm>
          <a:prstGeom prst="rect">
            <a:avLst/>
          </a:prstGeom>
          <a:noFill/>
          <a:ln/>
        </p:spPr>
        <p:txBody>
          <a:bodyPr wrap="square" lIns="0" tIns="0" rIns="0" bIns="0" rtlCol="0" anchor="ctr"/>
          <a:lstStyle/>
          <a:p>
            <a:pPr marL="0" indent="0">
              <a:buNone/>
            </a:pPr>
            <a:r>
              <a:rPr lang="en-US" sz="1200" dirty="0">
                <a:solidFill>
                  <a:srgbClr val="8A7D78"/>
                </a:solidFill>
                <a:latin typeface="Poppins" pitchFamily="34" charset="0"/>
                <a:ea typeface="Poppins" pitchFamily="34" charset="-122"/>
                <a:cs typeface="Poppins" pitchFamily="34" charset="-120"/>
              </a:rPr>
              <a:t>anyone types the question in Slack</a:t>
            </a:r>
            <a:endParaRPr lang="en-US" sz="1200" dirty="0"/>
          </a:p>
        </p:txBody>
      </p:sp>
      <p:pic>
        <p:nvPicPr>
          <p:cNvPr id="19" name="Image 2" descr="/home/claude/deck/assets/icons/check_orange.png"/>
          <p:cNvPicPr>
            <a:picLocks noChangeAspect="1"/>
          </p:cNvPicPr>
          <p:nvPr/>
        </p:nvPicPr>
        <p:blipFill>
          <a:blip r:embed="rId5"/>
          <a:stretch>
            <a:fillRect/>
          </a:stretch>
        </p:blipFill>
        <p:spPr>
          <a:xfrm>
            <a:off x="6766560" y="2852928"/>
            <a:ext cx="237744" cy="237744"/>
          </a:xfrm>
          <a:prstGeom prst="rect">
            <a:avLst/>
          </a:prstGeom>
        </p:spPr>
      </p:pic>
      <p:sp>
        <p:nvSpPr>
          <p:cNvPr id="20" name="Text 15"/>
          <p:cNvSpPr/>
          <p:nvPr/>
        </p:nvSpPr>
        <p:spPr>
          <a:xfrm>
            <a:off x="7132320" y="2761488"/>
            <a:ext cx="448056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Real queries only</a:t>
            </a:r>
            <a:endParaRPr lang="en-US" sz="1800" dirty="0"/>
          </a:p>
        </p:txBody>
      </p:sp>
      <p:sp>
        <p:nvSpPr>
          <p:cNvPr id="21" name="Text 16"/>
          <p:cNvSpPr/>
          <p:nvPr/>
        </p:nvSpPr>
        <p:spPr>
          <a:xfrm>
            <a:off x="7132320" y="3218688"/>
            <a:ext cx="4480560" cy="320040"/>
          </a:xfrm>
          <a:prstGeom prst="rect">
            <a:avLst/>
          </a:prstGeom>
          <a:noFill/>
          <a:ln/>
        </p:spPr>
        <p:txBody>
          <a:bodyPr wrap="square" lIns="0" tIns="0" rIns="0" bIns="0" rtlCol="0" anchor="ctr"/>
          <a:lstStyle/>
          <a:p>
            <a:pPr marL="0" indent="0">
              <a:buNone/>
            </a:pPr>
            <a:r>
              <a:rPr lang="en-US" sz="1200" dirty="0">
                <a:solidFill>
                  <a:srgbClr val="8A7D78"/>
                </a:solidFill>
                <a:latin typeface="Poppins" pitchFamily="34" charset="0"/>
                <a:ea typeface="Poppins" pitchFamily="34" charset="-122"/>
                <a:cs typeface="Poppins" pitchFamily="34" charset="-120"/>
              </a:rPr>
              <a:t>every number traces to a SQL result</a:t>
            </a:r>
            <a:endParaRPr lang="en-US" sz="1200" dirty="0"/>
          </a:p>
        </p:txBody>
      </p:sp>
      <p:pic>
        <p:nvPicPr>
          <p:cNvPr id="22" name="Image 3" descr="/home/claude/deck/assets/icons/check_orange.png"/>
          <p:cNvPicPr>
            <a:picLocks noChangeAspect="1"/>
          </p:cNvPicPr>
          <p:nvPr/>
        </p:nvPicPr>
        <p:blipFill>
          <a:blip r:embed="rId5"/>
          <a:stretch>
            <a:fillRect/>
          </a:stretch>
        </p:blipFill>
        <p:spPr>
          <a:xfrm>
            <a:off x="6766560" y="3950208"/>
            <a:ext cx="237744" cy="237744"/>
          </a:xfrm>
          <a:prstGeom prst="rect">
            <a:avLst/>
          </a:prstGeom>
        </p:spPr>
      </p:pic>
      <p:sp>
        <p:nvSpPr>
          <p:cNvPr id="23" name="Text 17"/>
          <p:cNvSpPr/>
          <p:nvPr/>
        </p:nvSpPr>
        <p:spPr>
          <a:xfrm>
            <a:off x="7132320" y="3858768"/>
            <a:ext cx="448056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Anyone can ask</a:t>
            </a:r>
            <a:endParaRPr lang="en-US" sz="1800" dirty="0"/>
          </a:p>
        </p:txBody>
      </p:sp>
      <p:sp>
        <p:nvSpPr>
          <p:cNvPr id="24" name="Text 18"/>
          <p:cNvSpPr/>
          <p:nvPr/>
        </p:nvSpPr>
        <p:spPr>
          <a:xfrm>
            <a:off x="7132320" y="4315968"/>
            <a:ext cx="4480560" cy="320040"/>
          </a:xfrm>
          <a:prstGeom prst="rect">
            <a:avLst/>
          </a:prstGeom>
          <a:noFill/>
          <a:ln/>
        </p:spPr>
        <p:txBody>
          <a:bodyPr wrap="square" lIns="0" tIns="0" rIns="0" bIns="0" rtlCol="0" anchor="ctr"/>
          <a:lstStyle/>
          <a:p>
            <a:pPr marL="0" indent="0">
              <a:buNone/>
            </a:pPr>
            <a:r>
              <a:rPr lang="en-US" sz="1200" dirty="0">
                <a:solidFill>
                  <a:srgbClr val="8A7D78"/>
                </a:solidFill>
                <a:latin typeface="Poppins" pitchFamily="34" charset="0"/>
                <a:ea typeface="Poppins" pitchFamily="34" charset="-122"/>
                <a:cs typeface="Poppins" pitchFamily="34" charset="-120"/>
              </a:rPr>
              <a:t>on-call, analytics, or the business</a:t>
            </a:r>
            <a:endParaRPr lang="en-US" sz="1200" dirty="0"/>
          </a:p>
        </p:txBody>
      </p:sp>
      <p:pic>
        <p:nvPicPr>
          <p:cNvPr id="25" name="Image 4" descr="/home/claude/deck/assets/icons/check_orange.png"/>
          <p:cNvPicPr>
            <a:picLocks noChangeAspect="1"/>
          </p:cNvPicPr>
          <p:nvPr/>
        </p:nvPicPr>
        <p:blipFill>
          <a:blip r:embed="rId5"/>
          <a:stretch>
            <a:fillRect/>
          </a:stretch>
        </p:blipFill>
        <p:spPr>
          <a:xfrm>
            <a:off x="6766560" y="5047488"/>
            <a:ext cx="237744" cy="237744"/>
          </a:xfrm>
          <a:prstGeom prst="rect">
            <a:avLst/>
          </a:prstGeom>
        </p:spPr>
      </p:pic>
      <p:sp>
        <p:nvSpPr>
          <p:cNvPr id="26" name="Text 19"/>
          <p:cNvSpPr/>
          <p:nvPr/>
        </p:nvSpPr>
        <p:spPr>
          <a:xfrm>
            <a:off x="7132320" y="4956048"/>
            <a:ext cx="4480560" cy="411480"/>
          </a:xfrm>
          <a:prstGeom prst="rect">
            <a:avLst/>
          </a:prstGeom>
          <a:noFill/>
          <a:ln/>
        </p:spPr>
        <p:txBody>
          <a:bodyPr wrap="square" lIns="0" tIns="0" rIns="0" bIns="0" rtlCol="0" anchor="ctr"/>
          <a:lstStyle/>
          <a:p>
            <a:pPr marL="0" indent="0">
              <a:buNone/>
            </a:pPr>
            <a:r>
              <a:rPr lang="en-US" sz="1800" dirty="0">
                <a:solidFill>
                  <a:srgbClr val="212121"/>
                </a:solidFill>
                <a:latin typeface="Poppins Medium" pitchFamily="34" charset="0"/>
                <a:ea typeface="Poppins Medium" pitchFamily="34" charset="-122"/>
                <a:cs typeface="Poppins Medium" pitchFamily="34" charset="-120"/>
              </a:rPr>
              <a:t>Governed by rails</a:t>
            </a:r>
            <a:endParaRPr lang="en-US" sz="1800" dirty="0"/>
          </a:p>
        </p:txBody>
      </p:sp>
      <p:sp>
        <p:nvSpPr>
          <p:cNvPr id="27" name="Text 20"/>
          <p:cNvSpPr/>
          <p:nvPr/>
        </p:nvSpPr>
        <p:spPr>
          <a:xfrm>
            <a:off x="7132320" y="5413248"/>
            <a:ext cx="4480560" cy="320040"/>
          </a:xfrm>
          <a:prstGeom prst="rect">
            <a:avLst/>
          </a:prstGeom>
          <a:noFill/>
          <a:ln/>
        </p:spPr>
        <p:txBody>
          <a:bodyPr wrap="square" lIns="0" tIns="0" rIns="0" bIns="0" rtlCol="0" anchor="ctr"/>
          <a:lstStyle/>
          <a:p>
            <a:pPr marL="0" indent="0">
              <a:buNone/>
            </a:pPr>
            <a:r>
              <a:rPr lang="en-US" sz="1200" dirty="0">
                <a:solidFill>
                  <a:srgbClr val="8A7D78"/>
                </a:solidFill>
                <a:latin typeface="Poppins" pitchFamily="34" charset="0"/>
                <a:ea typeface="Poppins" pitchFamily="34" charset="-122"/>
                <a:cs typeface="Poppins" pitchFamily="34" charset="-120"/>
              </a:rPr>
              <a:t>deterministic, read-only by design</a:t>
            </a:r>
            <a:endParaRPr lang="en-US" sz="1200" dirty="0"/>
          </a:p>
        </p:txBody>
      </p:sp>
      <p:sp>
        <p:nvSpPr>
          <p:cNvPr id="28" name="Text 21"/>
          <p:cNvSpPr/>
          <p:nvPr/>
        </p:nvSpPr>
        <p:spPr>
          <a:xfrm>
            <a:off x="6766560" y="5989320"/>
            <a:ext cx="4572000" cy="320040"/>
          </a:xfrm>
          <a:prstGeom prst="rect">
            <a:avLst/>
          </a:prstGeom>
          <a:noFill/>
          <a:ln/>
        </p:spPr>
        <p:txBody>
          <a:bodyPr wrap="square" lIns="0" tIns="0" rIns="0" bIns="0" rtlCol="0" anchor="ctr"/>
          <a:lstStyle/>
          <a:p>
            <a:pPr marL="0" indent="0">
              <a:buNone/>
            </a:pPr>
            <a:r>
              <a:rPr lang="en-US" sz="1250" kern="0" spc="100" dirty="0">
                <a:solidFill>
                  <a:srgbClr val="E74A0A"/>
                </a:solidFill>
                <a:latin typeface="Poppins Medium" pitchFamily="34" charset="0"/>
                <a:ea typeface="Poppins Medium" pitchFamily="34" charset="-122"/>
                <a:cs typeface="Poppins Medium" pitchFamily="34" charset="-120"/>
              </a:rPr>
              <a:t>Why MoolAI  ×  Striim</a:t>
            </a:r>
            <a:endParaRPr lang="en-US" sz="1250" dirty="0"/>
          </a:p>
        </p:txBody>
      </p:sp>
      <p:sp>
        <p:nvSpPr>
          <p:cNvPr id="29" name="Text 22"/>
          <p:cNvSpPr/>
          <p:nvPr/>
        </p:nvSpPr>
        <p:spPr>
          <a:xfrm>
            <a:off x="6766560" y="6263640"/>
            <a:ext cx="4754880" cy="320040"/>
          </a:xfrm>
          <a:prstGeom prst="rect">
            <a:avLst/>
          </a:prstGeom>
          <a:noFill/>
          <a:ln/>
        </p:spPr>
        <p:txBody>
          <a:bodyPr wrap="square" lIns="0" tIns="0" rIns="0" bIns="0" rtlCol="0" anchor="ctr"/>
          <a:lstStyle/>
          <a:p>
            <a:pPr marL="0" indent="0">
              <a:buNone/>
            </a:pPr>
            <a:r>
              <a:rPr lang="en-US" sz="1150" dirty="0">
                <a:solidFill>
                  <a:srgbClr val="8A7D78"/>
                </a:solidFill>
                <a:latin typeface="Poppins" pitchFamily="34" charset="0"/>
                <a:ea typeface="Poppins" pitchFamily="34" charset="-122"/>
                <a:cs typeface="Poppins" pitchFamily="34" charset="-120"/>
              </a:rPr>
              <a:t>The governed answer layer for real-time CDC.</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777240"/>
            <a:ext cx="7315200" cy="274320"/>
          </a:xfrm>
          <a:prstGeom prst="rect">
            <a:avLst/>
          </a:prstGeom>
          <a:noFill/>
          <a:ln/>
        </p:spPr>
        <p:txBody>
          <a:bodyPr wrap="square" lIns="0" tIns="0" rIns="0" bIns="0" rtlCol="0" anchor="ctr"/>
          <a:lstStyle/>
          <a:p>
            <a:pPr marL="0" indent="0" algn="l">
              <a:buNone/>
            </a:pPr>
            <a:r>
              <a:rPr lang="en-US" sz="1150" kern="0" spc="300" dirty="0">
                <a:solidFill>
                  <a:srgbClr val="5A1B04"/>
                </a:solidFill>
                <a:latin typeface="Poppins Medium" pitchFamily="34" charset="0"/>
                <a:ea typeface="Poppins Medium" pitchFamily="34" charset="-122"/>
                <a:cs typeface="Poppins Medium" pitchFamily="34" charset="-120"/>
              </a:rPr>
              <a:t>WHAT'S NEXT</a:t>
            </a:r>
            <a:endParaRPr lang="en-US" sz="1150" dirty="0"/>
          </a:p>
        </p:txBody>
      </p:sp>
      <p:sp>
        <p:nvSpPr>
          <p:cNvPr id="3" name="Text 1"/>
          <p:cNvSpPr/>
          <p:nvPr/>
        </p:nvSpPr>
        <p:spPr>
          <a:xfrm>
            <a:off x="749808" y="1371600"/>
            <a:ext cx="9144000" cy="2011680"/>
          </a:xfrm>
          <a:prstGeom prst="rect">
            <a:avLst/>
          </a:prstGeom>
          <a:noFill/>
          <a:ln/>
        </p:spPr>
        <p:txBody>
          <a:bodyPr wrap="square" lIns="0" tIns="0" rIns="0" bIns="0" rtlCol="0" anchor="t"/>
          <a:lstStyle/>
          <a:p>
            <a:pPr marL="0" indent="0" algn="l">
              <a:lnSpc>
                <a:spcPct val="98000"/>
              </a:lnSpc>
              <a:buNone/>
            </a:pPr>
            <a:r>
              <a:rPr lang="en-US" sz="6200" kern="0" spc="-50" dirty="0">
                <a:solidFill>
                  <a:srgbClr val="212121"/>
                </a:solidFill>
                <a:latin typeface="Poppins" pitchFamily="34" charset="0"/>
                <a:ea typeface="Poppins" pitchFamily="34" charset="-122"/>
                <a:cs typeface="Poppins" pitchFamily="34" charset="-120"/>
              </a:rPr>
              <a:t>One pattern.
</a:t>
            </a:r>
            <a:r>
              <a:rPr lang="en-US" sz="6200" kern="0" spc="-50" dirty="0">
                <a:solidFill>
                  <a:srgbClr val="FFFFFF"/>
                </a:solidFill>
                <a:latin typeface="Poppins" pitchFamily="34" charset="0"/>
                <a:ea typeface="Poppins" pitchFamily="34" charset="-122"/>
                <a:cs typeface="Poppins" pitchFamily="34" charset="-120"/>
              </a:rPr>
              <a:t>Every pipeline.</a:t>
            </a:r>
            <a:endParaRPr lang="en-US" sz="6200" dirty="0"/>
          </a:p>
        </p:txBody>
      </p:sp>
      <p:sp>
        <p:nvSpPr>
          <p:cNvPr id="4" name="Text 2"/>
          <p:cNvSpPr/>
          <p:nvPr/>
        </p:nvSpPr>
        <p:spPr>
          <a:xfrm>
            <a:off x="777240" y="3794760"/>
            <a:ext cx="6949440" cy="1371600"/>
          </a:xfrm>
          <a:prstGeom prst="rect">
            <a:avLst/>
          </a:prstGeom>
          <a:noFill/>
          <a:ln/>
        </p:spPr>
        <p:txBody>
          <a:bodyPr wrap="square" lIns="0" tIns="0" rIns="0" bIns="0" rtlCol="0" anchor="t"/>
          <a:lstStyle/>
          <a:p>
            <a:pPr marL="0" indent="0" algn="l">
              <a:lnSpc>
                <a:spcPct val="140000"/>
              </a:lnSpc>
              <a:buNone/>
            </a:pPr>
            <a:r>
              <a:rPr lang="en-US" sz="1550" dirty="0">
                <a:solidFill>
                  <a:srgbClr val="3A1204"/>
                </a:solidFill>
                <a:latin typeface="Poppins" pitchFamily="34" charset="0"/>
                <a:ea typeface="Poppins" pitchFamily="34" charset="-122"/>
                <a:cs typeface="Poppins" pitchFamily="34" charset="-120"/>
              </a:rPr>
              <a:t>The governed answer layer works across any Striim-style CDC. Deterministic rails plus plain English, at production scale. Point it at a live pipeline, and anyone can ask, safely.</a:t>
            </a:r>
            <a:endParaRPr lang="en-US" sz="1550" dirty="0"/>
          </a:p>
        </p:txBody>
      </p:sp>
      <p:sp>
        <p:nvSpPr>
          <p:cNvPr id="5" name="Shape 3"/>
          <p:cNvSpPr/>
          <p:nvPr/>
        </p:nvSpPr>
        <p:spPr>
          <a:xfrm>
            <a:off x="777240" y="5257800"/>
            <a:ext cx="3429000" cy="658368"/>
          </a:xfrm>
          <a:prstGeom prst="roundRect">
            <a:avLst>
              <a:gd name="adj" fmla="val 50000"/>
            </a:avLst>
          </a:prstGeom>
          <a:solidFill>
            <a:srgbClr val="FFFFFF"/>
          </a:solidFill>
          <a:ln/>
          <a:effectLst>
            <a:outerShdw blurRad="127000" dist="50800" dir="5400000" algn="bl" rotWithShape="0">
              <a:srgbClr val="C9BEB8">
                <a:alpha val="28000"/>
              </a:srgbClr>
            </a:outerShdw>
          </a:effectLst>
        </p:spPr>
        <p:txBody>
          <a:bodyPr/>
          <a:lstStyle/>
          <a:p>
            <a:endParaRPr lang="en-US"/>
          </a:p>
        </p:txBody>
      </p:sp>
      <p:pic>
        <p:nvPicPr>
          <p:cNvPr id="6" name="Image 0" descr="/home/claude/deck/assets/icons/zap_orange.png"/>
          <p:cNvPicPr>
            <a:picLocks noChangeAspect="1"/>
          </p:cNvPicPr>
          <p:nvPr/>
        </p:nvPicPr>
        <p:blipFill>
          <a:blip r:embed="rId4"/>
          <a:stretch>
            <a:fillRect/>
          </a:stretch>
        </p:blipFill>
        <p:spPr>
          <a:xfrm>
            <a:off x="1033272" y="5449824"/>
            <a:ext cx="274320" cy="274320"/>
          </a:xfrm>
          <a:prstGeom prst="rect">
            <a:avLst/>
          </a:prstGeom>
        </p:spPr>
      </p:pic>
      <p:sp>
        <p:nvSpPr>
          <p:cNvPr id="7" name="Text 4"/>
          <p:cNvSpPr/>
          <p:nvPr/>
        </p:nvSpPr>
        <p:spPr>
          <a:xfrm>
            <a:off x="1417320" y="5257800"/>
            <a:ext cx="2651760" cy="658368"/>
          </a:xfrm>
          <a:prstGeom prst="rect">
            <a:avLst/>
          </a:prstGeom>
          <a:noFill/>
          <a:ln/>
        </p:spPr>
        <p:txBody>
          <a:bodyPr wrap="square" lIns="0" tIns="0" rIns="0" bIns="0" rtlCol="0" anchor="ctr"/>
          <a:lstStyle/>
          <a:p>
            <a:pPr marL="0" indent="0">
              <a:buNone/>
            </a:pPr>
            <a:r>
              <a:rPr lang="en-US" sz="1350" dirty="0">
                <a:solidFill>
                  <a:srgbClr val="212121"/>
                </a:solidFill>
                <a:latin typeface="Poppins Medium" pitchFamily="34" charset="0"/>
                <a:ea typeface="Poppins Medium" pitchFamily="34" charset="-122"/>
                <a:cs typeface="Poppins Medium" pitchFamily="34" charset="-120"/>
              </a:rPr>
              <a:t>Pilot on a live pipeline</a:t>
            </a:r>
            <a:endParaRPr lang="en-US" sz="1350" dirty="0"/>
          </a:p>
        </p:txBody>
      </p:sp>
      <p:sp>
        <p:nvSpPr>
          <p:cNvPr id="8" name="Shape 5"/>
          <p:cNvSpPr/>
          <p:nvPr/>
        </p:nvSpPr>
        <p:spPr>
          <a:xfrm>
            <a:off x="4443984" y="5257800"/>
            <a:ext cx="3429000" cy="658368"/>
          </a:xfrm>
          <a:prstGeom prst="roundRect">
            <a:avLst>
              <a:gd name="adj" fmla="val 50000"/>
            </a:avLst>
          </a:prstGeom>
          <a:solidFill>
            <a:srgbClr val="FFFFFF"/>
          </a:solidFill>
          <a:ln/>
          <a:effectLst>
            <a:outerShdw blurRad="127000" dist="50800" dir="5400000" algn="bl" rotWithShape="0">
              <a:srgbClr val="C9BEB8">
                <a:alpha val="28000"/>
              </a:srgbClr>
            </a:outerShdw>
          </a:effectLst>
        </p:spPr>
        <p:txBody>
          <a:bodyPr/>
          <a:lstStyle/>
          <a:p>
            <a:endParaRPr lang="en-US"/>
          </a:p>
        </p:txBody>
      </p:sp>
      <p:pic>
        <p:nvPicPr>
          <p:cNvPr id="9" name="Image 1" descr="/home/claude/deck/assets/icons/layers_orange.png"/>
          <p:cNvPicPr>
            <a:picLocks noChangeAspect="1"/>
          </p:cNvPicPr>
          <p:nvPr/>
        </p:nvPicPr>
        <p:blipFill>
          <a:blip r:embed="rId5"/>
          <a:stretch>
            <a:fillRect/>
          </a:stretch>
        </p:blipFill>
        <p:spPr>
          <a:xfrm>
            <a:off x="4700016" y="5449824"/>
            <a:ext cx="274320" cy="274320"/>
          </a:xfrm>
          <a:prstGeom prst="rect">
            <a:avLst/>
          </a:prstGeom>
        </p:spPr>
      </p:pic>
      <p:sp>
        <p:nvSpPr>
          <p:cNvPr id="10" name="Text 6"/>
          <p:cNvSpPr/>
          <p:nvPr/>
        </p:nvSpPr>
        <p:spPr>
          <a:xfrm>
            <a:off x="5084064" y="5257800"/>
            <a:ext cx="2651760" cy="658368"/>
          </a:xfrm>
          <a:prstGeom prst="rect">
            <a:avLst/>
          </a:prstGeom>
          <a:noFill/>
          <a:ln/>
        </p:spPr>
        <p:txBody>
          <a:bodyPr wrap="square" lIns="0" tIns="0" rIns="0" bIns="0" rtlCol="0" anchor="ctr"/>
          <a:lstStyle/>
          <a:p>
            <a:pPr marL="0" indent="0">
              <a:buNone/>
            </a:pPr>
            <a:r>
              <a:rPr lang="en-US" sz="1350" dirty="0">
                <a:solidFill>
                  <a:srgbClr val="212121"/>
                </a:solidFill>
                <a:latin typeface="Poppins Medium" pitchFamily="34" charset="0"/>
                <a:ea typeface="Poppins Medium" pitchFamily="34" charset="-122"/>
                <a:cs typeface="Poppins Medium" pitchFamily="34" charset="-120"/>
              </a:rPr>
              <a:t>Extend the tool surface</a:t>
            </a:r>
            <a:endParaRPr lang="en-US" sz="1350" dirty="0"/>
          </a:p>
        </p:txBody>
      </p:sp>
      <p:sp>
        <p:nvSpPr>
          <p:cNvPr id="11" name="Shape 7"/>
          <p:cNvSpPr/>
          <p:nvPr/>
        </p:nvSpPr>
        <p:spPr>
          <a:xfrm>
            <a:off x="8110728" y="5257800"/>
            <a:ext cx="3429000" cy="658368"/>
          </a:xfrm>
          <a:prstGeom prst="roundRect">
            <a:avLst>
              <a:gd name="adj" fmla="val 50000"/>
            </a:avLst>
          </a:prstGeom>
          <a:solidFill>
            <a:srgbClr val="FFFFFF"/>
          </a:solidFill>
          <a:ln/>
          <a:effectLst>
            <a:outerShdw blurRad="127000" dist="50800" dir="5400000" algn="bl" rotWithShape="0">
              <a:srgbClr val="C9BEB8">
                <a:alpha val="28000"/>
              </a:srgbClr>
            </a:outerShdw>
          </a:effectLst>
        </p:spPr>
        <p:txBody>
          <a:bodyPr/>
          <a:lstStyle/>
          <a:p>
            <a:endParaRPr lang="en-US"/>
          </a:p>
        </p:txBody>
      </p:sp>
      <p:pic>
        <p:nvPicPr>
          <p:cNvPr id="12" name="Image 2" descr="/home/claude/deck/assets/icons/ask_orange.png"/>
          <p:cNvPicPr>
            <a:picLocks noChangeAspect="1"/>
          </p:cNvPicPr>
          <p:nvPr/>
        </p:nvPicPr>
        <p:blipFill>
          <a:blip r:embed="rId6"/>
          <a:stretch>
            <a:fillRect/>
          </a:stretch>
        </p:blipFill>
        <p:spPr>
          <a:xfrm>
            <a:off x="8366760" y="5449824"/>
            <a:ext cx="274320" cy="274320"/>
          </a:xfrm>
          <a:prstGeom prst="rect">
            <a:avLst/>
          </a:prstGeom>
        </p:spPr>
      </p:pic>
      <p:sp>
        <p:nvSpPr>
          <p:cNvPr id="13" name="Text 8"/>
          <p:cNvSpPr/>
          <p:nvPr/>
        </p:nvSpPr>
        <p:spPr>
          <a:xfrm>
            <a:off x="8750808" y="5257800"/>
            <a:ext cx="2651760" cy="658368"/>
          </a:xfrm>
          <a:prstGeom prst="rect">
            <a:avLst/>
          </a:prstGeom>
          <a:noFill/>
          <a:ln/>
        </p:spPr>
        <p:txBody>
          <a:bodyPr wrap="square" lIns="0" tIns="0" rIns="0" bIns="0" rtlCol="0" anchor="ctr"/>
          <a:lstStyle/>
          <a:p>
            <a:pPr marL="0" indent="0">
              <a:buNone/>
            </a:pPr>
            <a:r>
              <a:rPr lang="en-US" sz="1350" dirty="0">
                <a:solidFill>
                  <a:srgbClr val="212121"/>
                </a:solidFill>
                <a:latin typeface="Poppins Medium" pitchFamily="34" charset="0"/>
                <a:ea typeface="Poppins Medium" pitchFamily="34" charset="-122"/>
                <a:cs typeface="Poppins Medium" pitchFamily="34" charset="-120"/>
              </a:rPr>
              <a:t>Wire into Slack or Teams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2514600"/>
            <a:ext cx="9144000" cy="1463040"/>
          </a:xfrm>
          <a:prstGeom prst="rect">
            <a:avLst/>
          </a:prstGeom>
          <a:noFill/>
          <a:ln/>
        </p:spPr>
        <p:txBody>
          <a:bodyPr wrap="square" lIns="0" tIns="0" rIns="0" bIns="0" rtlCol="0" anchor="ctr"/>
          <a:lstStyle/>
          <a:p>
            <a:pPr marL="0" indent="0" algn="l">
              <a:buNone/>
            </a:pPr>
            <a:r>
              <a:rPr lang="en-US" sz="6600" kern="0" spc="-50" dirty="0">
                <a:solidFill>
                  <a:srgbClr val="FFFFFF"/>
                </a:solidFill>
                <a:latin typeface="Poppins" pitchFamily="34" charset="0"/>
                <a:ea typeface="Poppins" pitchFamily="34" charset="-122"/>
                <a:cs typeface="Poppins" pitchFamily="34" charset="-120"/>
              </a:rPr>
              <a:t>Thank you</a:t>
            </a:r>
            <a:endParaRPr lang="en-US" sz="6600" dirty="0"/>
          </a:p>
        </p:txBody>
      </p:sp>
      <p:sp>
        <p:nvSpPr>
          <p:cNvPr id="3" name="Text 1"/>
          <p:cNvSpPr/>
          <p:nvPr/>
        </p:nvSpPr>
        <p:spPr>
          <a:xfrm>
            <a:off x="822960" y="3977640"/>
            <a:ext cx="8229600" cy="457200"/>
          </a:xfrm>
          <a:prstGeom prst="rect">
            <a:avLst/>
          </a:prstGeom>
          <a:noFill/>
          <a:ln/>
        </p:spPr>
        <p:txBody>
          <a:bodyPr wrap="square" lIns="0" tIns="0" rIns="0" bIns="0" rtlCol="0" anchor="ctr"/>
          <a:lstStyle/>
          <a:p>
            <a:pPr marL="0" indent="0">
              <a:buNone/>
            </a:pPr>
            <a:r>
              <a:rPr lang="en-US" sz="1600" i="1" dirty="0">
                <a:solidFill>
                  <a:srgbClr val="F4D9C6"/>
                </a:solidFill>
                <a:latin typeface="Poppins" pitchFamily="34" charset="0"/>
                <a:ea typeface="Poppins" pitchFamily="34" charset="-122"/>
                <a:cs typeface="Poppins" pitchFamily="34" charset="-120"/>
              </a:rPr>
              <a:t>Something powerful, made completely visible.</a:t>
            </a:r>
            <a:endParaRPr lang="en-US" sz="1600" dirty="0"/>
          </a:p>
        </p:txBody>
      </p:sp>
      <p:pic>
        <p:nvPicPr>
          <p:cNvPr id="4" name="Image 0" descr="/home/claude/deck/assets/logo-dark.png"/>
          <p:cNvPicPr>
            <a:picLocks noChangeAspect="1"/>
          </p:cNvPicPr>
          <p:nvPr/>
        </p:nvPicPr>
        <p:blipFill>
          <a:blip r:embed="rId4"/>
          <a:stretch>
            <a:fillRect/>
          </a:stretch>
        </p:blipFill>
        <p:spPr>
          <a:xfrm>
            <a:off x="804672" y="5806440"/>
            <a:ext cx="1691640" cy="427025"/>
          </a:xfrm>
          <a:prstGeom prst="rect">
            <a:avLst/>
          </a:prstGeom>
        </p:spPr>
      </p:pic>
      <p:sp>
        <p:nvSpPr>
          <p:cNvPr id="5" name="Text 2"/>
          <p:cNvSpPr/>
          <p:nvPr/>
        </p:nvSpPr>
        <p:spPr>
          <a:xfrm>
            <a:off x="9509760" y="5943600"/>
            <a:ext cx="2011680" cy="320040"/>
          </a:xfrm>
          <a:prstGeom prst="rect">
            <a:avLst/>
          </a:prstGeom>
          <a:noFill/>
          <a:ln/>
        </p:spPr>
        <p:txBody>
          <a:bodyPr wrap="square" lIns="0" tIns="0" rIns="0" bIns="0" rtlCol="0" anchor="ctr"/>
          <a:lstStyle/>
          <a:p>
            <a:pPr marL="0" indent="0" algn="r">
              <a:buNone/>
            </a:pPr>
            <a:r>
              <a:rPr lang="en-US" sz="1200" dirty="0">
                <a:solidFill>
                  <a:srgbClr val="F4D9C6"/>
                </a:solidFill>
                <a:latin typeface="Poppins Medium" pitchFamily="34" charset="0"/>
                <a:ea typeface="Poppins Medium" pitchFamily="34" charset="-122"/>
                <a:cs typeface="Poppins Medium" pitchFamily="34" charset="-120"/>
              </a:rPr>
              <a:t>MoolAI  ×  Striim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2071</Words>
  <Application>Microsoft Macintosh PowerPoint</Application>
  <PresentationFormat>Widescreen</PresentationFormat>
  <Paragraphs>134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Poppins</vt:lpstr>
      <vt:lpstr>Poppins Medium</vt:lpstr>
      <vt:lpstr>Poppins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Pipeline Agent (MoolAI x Striim)</dc:title>
  <dc:subject>PptxGenJS Presentation</dc:subject>
  <dc:creator>MoolAI</dc:creator>
  <cp:lastModifiedBy>Amogh Ranganathaiah</cp:lastModifiedBy>
  <cp:revision>2</cp:revision>
  <dcterms:created xsi:type="dcterms:W3CDTF">2026-07-13T20:42:34Z</dcterms:created>
  <dcterms:modified xsi:type="dcterms:W3CDTF">2026-07-13T20:46:24Z</dcterms:modified>
</cp:coreProperties>
</file>